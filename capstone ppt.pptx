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embeddedFontLst>
    <p:embeddedFont>
      <p:font typeface="Nunito SemiBold"/>
      <p:regular r:id="rId24"/>
      <p:bold r:id="rId25"/>
      <p:italic r:id="rId26"/>
      <p:boldItalic r:id="rId27"/>
    </p:embeddedFont>
    <p:embeddedFont>
      <p:font typeface="PT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Eric Giitw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NunitoSemiBold-regular.fntdata"/><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NunitoSemiBold-italic.fntdata"/><Relationship Id="rId25" Type="http://schemas.openxmlformats.org/officeDocument/2006/relationships/font" Target="fonts/NunitoSemiBold-bold.fntdata"/><Relationship Id="rId28" Type="http://schemas.openxmlformats.org/officeDocument/2006/relationships/font" Target="fonts/PTSans-regular.fntdata"/><Relationship Id="rId27" Type="http://schemas.openxmlformats.org/officeDocument/2006/relationships/font" Target="fonts/NunitoSemiBold-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TSans-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TSans-boldItalic.fntdata"/><Relationship Id="rId30" Type="http://schemas.openxmlformats.org/officeDocument/2006/relationships/font" Target="fonts/PTSans-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8-05T15:45:35.085">
    <p:pos x="6000" y="0"/>
    <p:text>we should present the slide without words or delete this slide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8-05T15:47:48.630">
    <p:pos x="3636" y="568"/>
    <p:text>summarize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1f5948fbf_2_42: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g371f5948fbf_2_42:notes"/>
          <p:cNvSpPr txBox="1"/>
          <p:nvPr>
            <p:ph idx="1" type="body"/>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95" name="Google Shape;95;g371f5948fbf_2_42:notes"/>
          <p:cNvSpPr txBox="1"/>
          <p:nvPr>
            <p:ph idx="12" type="sldNum"/>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b="0" i="0" lang="en" sz="1400" u="none" cap="none" strike="noStrike">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3bf29314e_0_0: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g363bf29314e_0_0:notes"/>
          <p:cNvSpPr txBox="1"/>
          <p:nvPr>
            <p:ph idx="1" type="body"/>
          </p:nvPr>
        </p:nvSpPr>
        <p:spPr>
          <a:xfrm>
            <a:off x="0" y="0"/>
            <a:ext cx="2499900" cy="1875000"/>
          </a:xfrm>
          <a:prstGeom prst="rect">
            <a:avLst/>
          </a:prstGeom>
          <a:noFill/>
          <a:ln>
            <a:noFill/>
          </a:ln>
        </p:spPr>
        <p:txBody>
          <a:bodyPr anchorCtr="0" anchor="t" bIns="34900" lIns="69850" spcFirstLastPara="1" rIns="69850" wrap="square" tIns="34900">
            <a:noAutofit/>
          </a:bodyPr>
          <a:lstStyle/>
          <a:p>
            <a:pPr indent="0" lvl="0" marL="0" rtl="0" algn="l">
              <a:lnSpc>
                <a:spcPct val="118750"/>
              </a:lnSpc>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Kenyan farmers face difficulty with crop placement due to Lack of accessible data.</a:t>
            </a:r>
            <a:endParaRPr>
              <a:solidFill>
                <a:schemeClr val="dk1"/>
              </a:solidFill>
            </a:endParaRPr>
          </a:p>
          <a:p>
            <a:pPr indent="0" lvl="0" marL="0" rtl="0" algn="l">
              <a:lnSpc>
                <a:spcPct val="118750"/>
              </a:lnSpc>
              <a:spcBef>
                <a:spcPts val="0"/>
              </a:spcBef>
              <a:spcAft>
                <a:spcPts val="0"/>
              </a:spcAft>
              <a:buNone/>
            </a:pPr>
            <a:r>
              <a:rPr lang="en" sz="1500">
                <a:solidFill>
                  <a:schemeClr val="dk1"/>
                </a:solidFill>
                <a:latin typeface="PT Sans"/>
                <a:ea typeface="PT Sans"/>
                <a:cs typeface="PT Sans"/>
                <a:sym typeface="PT Sans"/>
              </a:rPr>
              <a:t>Such as </a:t>
            </a:r>
            <a:r>
              <a:rPr lang="en" sz="1500">
                <a:solidFill>
                  <a:schemeClr val="dk1"/>
                </a:solidFill>
                <a:latin typeface="PT Sans"/>
                <a:ea typeface="PT Sans"/>
                <a:cs typeface="PT Sans"/>
                <a:sym typeface="PT Sans"/>
              </a:rPr>
              <a:t> climate variability and soil degradation.</a:t>
            </a:r>
            <a:endParaRPr sz="1500">
              <a:solidFill>
                <a:schemeClr val="dk1"/>
              </a:solidFill>
              <a:latin typeface="PT Sans"/>
              <a:ea typeface="PT Sans"/>
              <a:cs typeface="PT Sans"/>
              <a:sym typeface="PT Sans"/>
            </a:endParaRPr>
          </a:p>
          <a:p>
            <a:pPr indent="0" lvl="0" marL="0" rtl="0" algn="l">
              <a:lnSpc>
                <a:spcPct val="118750"/>
              </a:lnSpc>
              <a:spcBef>
                <a:spcPts val="0"/>
              </a:spcBef>
              <a:spcAft>
                <a:spcPts val="0"/>
              </a:spcAft>
              <a:buNone/>
            </a:pPr>
            <a:r>
              <a:t/>
            </a:r>
            <a:endParaRPr sz="1500">
              <a:solidFill>
                <a:schemeClr val="dk1"/>
              </a:solidFill>
              <a:latin typeface="PT Sans"/>
              <a:ea typeface="PT Sans"/>
              <a:cs typeface="PT Sans"/>
              <a:sym typeface="PT Sans"/>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07" name="Google Shape;107;g363bf29314e_0_0:notes"/>
          <p:cNvSpPr txBox="1"/>
          <p:nvPr>
            <p:ph idx="12" type="sldNum"/>
          </p:nvPr>
        </p:nvSpPr>
        <p:spPr>
          <a:xfrm>
            <a:off x="0" y="0"/>
            <a:ext cx="24999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lang="en" sz="1400">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1f5948fbf_2_54: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g371f5948fbf_2_54:notes"/>
          <p:cNvSpPr txBox="1"/>
          <p:nvPr>
            <p:ph idx="1" type="body"/>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rtl="0" algn="l">
              <a:lnSpc>
                <a:spcPct val="118750"/>
              </a:lnSpc>
              <a:spcBef>
                <a:spcPts val="0"/>
              </a:spcBef>
              <a:spcAft>
                <a:spcPts val="0"/>
              </a:spcAft>
              <a:buClr>
                <a:schemeClr val="dk1"/>
              </a:buClr>
              <a:buFont typeface="Arial"/>
              <a:buNone/>
            </a:pPr>
            <a:r>
              <a:rPr lang="en" sz="1500">
                <a:solidFill>
                  <a:schemeClr val="dk1"/>
                </a:solidFill>
                <a:latin typeface="PT Sans"/>
                <a:ea typeface="PT Sans"/>
                <a:cs typeface="PT Sans"/>
                <a:sym typeface="PT Sans"/>
              </a:rPr>
              <a:t>A lack of accessible data leads to poor decisions, low yields and increased risk</a:t>
            </a:r>
            <a:endParaRPr sz="1500">
              <a:solidFill>
                <a:schemeClr val="dk1"/>
              </a:solidFill>
              <a:latin typeface="PT Sans"/>
              <a:ea typeface="PT Sans"/>
              <a:cs typeface="PT Sans"/>
              <a:sym typeface="PT Sans"/>
            </a:endParaRPr>
          </a:p>
          <a:p>
            <a:pPr indent="0" lvl="0" marL="0" rtl="0" algn="l">
              <a:lnSpc>
                <a:spcPct val="162857"/>
              </a:lnSpc>
              <a:spcBef>
                <a:spcPts val="0"/>
              </a:spcBef>
              <a:spcAft>
                <a:spcPts val="0"/>
              </a:spcAft>
              <a:buClr>
                <a:schemeClr val="dk1"/>
              </a:buClr>
              <a:buSzPts val="1100"/>
              <a:buFont typeface="Arial"/>
              <a:buNone/>
            </a:pPr>
            <a:r>
              <a:rPr lang="en" sz="1600">
                <a:solidFill>
                  <a:schemeClr val="dk1"/>
                </a:solidFill>
                <a:latin typeface="PT Sans"/>
                <a:ea typeface="PT Sans"/>
                <a:cs typeface="PT Sans"/>
                <a:sym typeface="PT Sans"/>
              </a:rPr>
              <a:t>Without precise insights, farmers gamble on crop choices, risking livelihoods and food security.</a:t>
            </a:r>
            <a:endParaRPr sz="2000">
              <a:solidFill>
                <a:schemeClr val="dk1"/>
              </a:solidFill>
              <a:latin typeface="PT Sans"/>
              <a:ea typeface="PT Sans"/>
              <a:cs typeface="PT Sans"/>
              <a:sym typeface="PT Sans"/>
            </a:endParaRPr>
          </a:p>
        </p:txBody>
      </p:sp>
      <p:sp>
        <p:nvSpPr>
          <p:cNvPr id="117" name="Google Shape;117;g371f5948fbf_2_54:notes"/>
          <p:cNvSpPr txBox="1"/>
          <p:nvPr>
            <p:ph idx="12" type="sldNum"/>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lang="en" sz="1400">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2b5dc77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72b5dc77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The changing climate patterns have led to profound implications for crop production,particularly in counties heavily reliant on agriculture for food security and economic stability. </a:t>
            </a:r>
            <a:endParaRPr sz="1500"/>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2b5dc770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72b5dc770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During the 2024 Droughts, the agricultural sector had seen a steep decline in production. Families lost cattle, crops and livelihoods, and </a:t>
            </a:r>
            <a:r>
              <a:rPr lang="en" sz="1500">
                <a:solidFill>
                  <a:schemeClr val="dk1"/>
                </a:solidFill>
                <a:latin typeface="PT Sans"/>
                <a:ea typeface="PT Sans"/>
                <a:cs typeface="PT Sans"/>
                <a:sym typeface="PT Sans"/>
              </a:rPr>
              <a:t>unfortunately</a:t>
            </a:r>
            <a:r>
              <a:rPr lang="en" sz="1500">
                <a:solidFill>
                  <a:schemeClr val="dk1"/>
                </a:solidFill>
                <a:latin typeface="PT Sans"/>
                <a:ea typeface="PT Sans"/>
                <a:cs typeface="PT Sans"/>
                <a:sym typeface="PT Sans"/>
              </a:rPr>
              <a:t> millions of children under the age of five were malnourished and urgently needed nutrition </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72ba5ee9d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72ba5ee9d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PT Sans"/>
              <a:buChar char="●"/>
            </a:pPr>
            <a:r>
              <a:rPr lang="en" sz="1500">
                <a:solidFill>
                  <a:schemeClr val="dk1"/>
                </a:solidFill>
                <a:latin typeface="PT Sans"/>
                <a:ea typeface="PT Sans"/>
                <a:cs typeface="PT Sans"/>
                <a:sym typeface="PT Sans"/>
              </a:rPr>
              <a:t>Kenya’s weather is increasingly unpredictable</a:t>
            </a:r>
            <a:endParaRPr sz="1500">
              <a:solidFill>
                <a:schemeClr val="dk1"/>
              </a:solidFill>
              <a:latin typeface="PT Sans"/>
              <a:ea typeface="PT Sans"/>
              <a:cs typeface="PT Sans"/>
              <a:sym typeface="PT Sans"/>
            </a:endParaRPr>
          </a:p>
          <a:p>
            <a:pPr indent="-323850" lvl="0" marL="457200" rtl="0" algn="l">
              <a:spcBef>
                <a:spcPts val="0"/>
              </a:spcBef>
              <a:spcAft>
                <a:spcPts val="0"/>
              </a:spcAft>
              <a:buClr>
                <a:schemeClr val="dk1"/>
              </a:buClr>
              <a:buSzPts val="1500"/>
              <a:buFont typeface="PT Sans"/>
              <a:buChar char="●"/>
            </a:pPr>
            <a:r>
              <a:rPr lang="en" sz="1500">
                <a:solidFill>
                  <a:schemeClr val="dk1"/>
                </a:solidFill>
                <a:latin typeface="PT Sans"/>
                <a:ea typeface="PT Sans"/>
                <a:cs typeface="PT Sans"/>
                <a:sym typeface="PT Sans"/>
              </a:rPr>
              <a:t>Precision farming helps:</a:t>
            </a:r>
            <a:endParaRPr sz="1500">
              <a:solidFill>
                <a:schemeClr val="dk1"/>
              </a:solidFill>
              <a:latin typeface="PT Sans"/>
              <a:ea typeface="PT Sans"/>
              <a:cs typeface="PT Sans"/>
              <a:sym typeface="PT Sans"/>
            </a:endParaRPr>
          </a:p>
          <a:p>
            <a:pPr indent="-323850" lvl="1" marL="914400" rtl="0" algn="l">
              <a:spcBef>
                <a:spcPts val="0"/>
              </a:spcBef>
              <a:spcAft>
                <a:spcPts val="0"/>
              </a:spcAft>
              <a:buClr>
                <a:schemeClr val="dk1"/>
              </a:buClr>
              <a:buSzPts val="1500"/>
              <a:buFont typeface="PT Sans"/>
              <a:buChar char="○"/>
            </a:pPr>
            <a:r>
              <a:rPr lang="en" sz="1500">
                <a:solidFill>
                  <a:schemeClr val="dk1"/>
                </a:solidFill>
                <a:latin typeface="PT Sans"/>
                <a:ea typeface="PT Sans"/>
                <a:cs typeface="PT Sans"/>
                <a:sym typeface="PT Sans"/>
              </a:rPr>
              <a:t>Maximize yields</a:t>
            </a:r>
            <a:endParaRPr sz="1500">
              <a:solidFill>
                <a:schemeClr val="dk1"/>
              </a:solidFill>
              <a:latin typeface="PT Sans"/>
              <a:ea typeface="PT Sans"/>
              <a:cs typeface="PT Sans"/>
              <a:sym typeface="PT Sans"/>
            </a:endParaRPr>
          </a:p>
          <a:p>
            <a:pPr indent="-323850" lvl="1" marL="914400" rtl="0" algn="l">
              <a:spcBef>
                <a:spcPts val="0"/>
              </a:spcBef>
              <a:spcAft>
                <a:spcPts val="0"/>
              </a:spcAft>
              <a:buClr>
                <a:schemeClr val="dk1"/>
              </a:buClr>
              <a:buSzPts val="1500"/>
              <a:buFont typeface="PT Sans"/>
              <a:buChar char="○"/>
            </a:pPr>
            <a:r>
              <a:rPr lang="en" sz="1500">
                <a:solidFill>
                  <a:schemeClr val="dk1"/>
                </a:solidFill>
                <a:latin typeface="PT Sans"/>
                <a:ea typeface="PT Sans"/>
                <a:cs typeface="PT Sans"/>
                <a:sym typeface="PT Sans"/>
              </a:rPr>
              <a:t>Safeguard livelihoods</a:t>
            </a:r>
            <a:endParaRPr sz="1500">
              <a:solidFill>
                <a:schemeClr val="dk1"/>
              </a:solidFill>
              <a:latin typeface="PT Sans"/>
              <a:ea typeface="PT Sans"/>
              <a:cs typeface="PT Sans"/>
              <a:sym typeface="PT Sans"/>
            </a:endParaRPr>
          </a:p>
          <a:p>
            <a:pPr indent="-323850" lvl="0" marL="457200" rtl="0" algn="l">
              <a:spcBef>
                <a:spcPts val="0"/>
              </a:spcBef>
              <a:spcAft>
                <a:spcPts val="0"/>
              </a:spcAft>
              <a:buClr>
                <a:schemeClr val="dk1"/>
              </a:buClr>
              <a:buSzPts val="1500"/>
              <a:buFont typeface="PT Sans"/>
              <a:buChar char="●"/>
            </a:pPr>
            <a:r>
              <a:t/>
            </a:r>
            <a:endParaRPr sz="1500">
              <a:solidFill>
                <a:schemeClr val="dk1"/>
              </a:solidFill>
              <a:latin typeface="PT Sans"/>
              <a:ea typeface="PT Sans"/>
              <a:cs typeface="PT Sans"/>
              <a:sym typeface="PT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2ba5ee9d3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72ba5ee9d3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Strategic planting at the optimal season not only enhances crop performance—it slashes input costs by minimizing wasted water, fertilizer, and labor</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 plants use enzyme catalysed reactions to boost growth</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By planting at the perfect time and conditions will lead to: Cost savings from reduced input (e.g., fertilizer, water). Efficiency in growth as</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2ba5ee9d3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72ba5ee9d3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ainfall replaces the need for artificial irrigation, lowering reliance on costly systems like drip lines, sprinklers, or rain hoses.</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Drip irrigation systems cost between KES 75,000 to KES 160,000 per acre. Sprinklers range from KES 500 to KES 45,000. Rain hoses can cost between KES 75,000 to KES 110,000 per acre</a:t>
            </a:r>
            <a:endParaRPr sz="15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1f5948fbf_2_67: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371f5948fbf_2_67:notes"/>
          <p:cNvSpPr txBox="1"/>
          <p:nvPr>
            <p:ph idx="1" type="body"/>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r>
              <a:rPr lang="en" sz="900">
                <a:solidFill>
                  <a:schemeClr val="dk1"/>
                </a:solidFill>
                <a:latin typeface="Calibri"/>
                <a:ea typeface="Calibri"/>
                <a:cs typeface="Calibri"/>
                <a:sym typeface="Calibri"/>
              </a:rPr>
              <a:t>Basically</a:t>
            </a:r>
            <a:r>
              <a:rPr lang="en" sz="900">
                <a:solidFill>
                  <a:schemeClr val="dk1"/>
                </a:solidFill>
                <a:latin typeface="Calibri"/>
                <a:ea typeface="Calibri"/>
                <a:cs typeface="Calibri"/>
                <a:sym typeface="Calibri"/>
              </a:rPr>
              <a:t> our objectives focus on improving agriculture in Kenya through data-driven solutions.</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 sz="900">
                <a:solidFill>
                  <a:schemeClr val="dk1"/>
                </a:solidFill>
                <a:latin typeface="Calibri"/>
                <a:ea typeface="Calibri"/>
                <a:cs typeface="Calibri"/>
                <a:sym typeface="Calibri"/>
              </a:rPr>
              <a:t>Our first goal is to enhance crop suitability mapping in Kenya using geospatial data and machine learning.</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 sz="900">
                <a:solidFill>
                  <a:schemeClr val="dk1"/>
                </a:solidFill>
                <a:latin typeface="Calibri"/>
                <a:ea typeface="Calibri"/>
                <a:cs typeface="Calibri"/>
                <a:sym typeface="Calibri"/>
              </a:rPr>
              <a:t>Second, we aim to develop predictive mapping tools to help farmers and policymakers make data-driven decisions.</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 sz="900">
                <a:solidFill>
                  <a:schemeClr val="dk1"/>
                </a:solidFill>
                <a:latin typeface="Calibri"/>
                <a:ea typeface="Calibri"/>
                <a:cs typeface="Calibri"/>
                <a:sym typeface="Calibri"/>
              </a:rPr>
              <a:t>Finally, we will build and refine machine learning models to ensure accurate, scalable, and practical deployment in real-world conditions.</a:t>
            </a:r>
            <a:endParaRPr sz="900">
              <a:solidFill>
                <a:schemeClr val="dk1"/>
              </a:solidFill>
              <a:latin typeface="Calibri"/>
              <a:ea typeface="Calibri"/>
              <a:cs typeface="Calibri"/>
              <a:sym typeface="Calibri"/>
            </a:endParaRPr>
          </a:p>
        </p:txBody>
      </p:sp>
      <p:sp>
        <p:nvSpPr>
          <p:cNvPr id="161" name="Google Shape;161;g371f5948fbf_2_67:notes"/>
          <p:cNvSpPr txBox="1"/>
          <p:nvPr>
            <p:ph idx="12" type="sldNum"/>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lang="en" sz="1400">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1f5948fbf_2_84: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g371f5948fbf_2_84:notes"/>
          <p:cNvSpPr txBox="1"/>
          <p:nvPr>
            <p:ph idx="1" type="body"/>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75" name="Google Shape;175;g371f5948fbf_2_84:notes"/>
          <p:cNvSpPr txBox="1"/>
          <p:nvPr>
            <p:ph idx="12" type="sldNum"/>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lang="en" sz="1400">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1f5948fbf_2_145: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g371f5948fbf_2_145:notes"/>
          <p:cNvSpPr txBox="1"/>
          <p:nvPr>
            <p:ph idx="1" type="body"/>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Clr>
                <a:schemeClr val="dk1"/>
              </a:buClr>
              <a:buFont typeface="Arial"/>
              <a:buNone/>
            </a:pPr>
            <a:r>
              <a:rPr lang="en" sz="1500">
                <a:solidFill>
                  <a:schemeClr val="dk1"/>
                </a:solidFill>
                <a:latin typeface="PT Sans"/>
                <a:ea typeface="PT Sans"/>
                <a:cs typeface="PT Sans"/>
                <a:sym typeface="PT Sans"/>
              </a:rPr>
              <a:t>We explored a diverse set of machine learning models to identify the most effective approach for predicting crop suitability, ranging from ensemble methods to deep learning</a:t>
            </a:r>
            <a:endParaRPr sz="900">
              <a:solidFill>
                <a:schemeClr val="dk1"/>
              </a:solidFill>
              <a:latin typeface="Calibri"/>
              <a:ea typeface="Calibri"/>
              <a:cs typeface="Calibri"/>
              <a:sym typeface="Calibri"/>
            </a:endParaRPr>
          </a:p>
        </p:txBody>
      </p:sp>
      <p:sp>
        <p:nvSpPr>
          <p:cNvPr id="186" name="Google Shape;186;g371f5948fbf_2_145:notes"/>
          <p:cNvSpPr txBox="1"/>
          <p:nvPr>
            <p:ph idx="12" type="sldNum"/>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lang="en" sz="1400">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72ba5ee9d3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72ba5ee9d3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PT Sans"/>
                <a:ea typeface="PT Sans"/>
                <a:cs typeface="PT Sans"/>
                <a:sym typeface="PT Sans"/>
              </a:rPr>
              <a:t>This chart shows the top  most influential environmental factors that matter most when identifying suitable crop zones.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1f5948fbf_2_197: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71f5948fbf_2_197:notes"/>
          <p:cNvSpPr txBox="1"/>
          <p:nvPr>
            <p:ph idx="1" type="body"/>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rtl="0" algn="l">
              <a:lnSpc>
                <a:spcPct val="81250"/>
              </a:lnSpc>
              <a:spcBef>
                <a:spcPts val="0"/>
              </a:spcBef>
              <a:spcAft>
                <a:spcPts val="0"/>
              </a:spcAft>
              <a:buClr>
                <a:schemeClr val="lt1"/>
              </a:buClr>
              <a:buSzPts val="1500"/>
              <a:buFont typeface="PT Sans"/>
              <a:buNone/>
            </a:pPr>
            <a:r>
              <a:rPr lang="en">
                <a:solidFill>
                  <a:schemeClr val="dk1"/>
                </a:solidFill>
                <a:latin typeface="PT Sans"/>
                <a:ea typeface="PT Sans"/>
                <a:cs typeface="PT Sans"/>
                <a:sym typeface="PT Sans"/>
              </a:rPr>
              <a:t>XGBoost outperformed other models with the best balance of precision, recall, and accuracy, achieving an F1 score of 0.89 : showing it reliably identifies suitable areas while minimizing errors.</a:t>
            </a:r>
            <a:endParaRPr b="1" sz="1900">
              <a:solidFill>
                <a:schemeClr val="dk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T Sans"/>
              <a:ea typeface="PT Sans"/>
              <a:cs typeface="PT Sans"/>
              <a:sym typeface="PT Sans"/>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8" name="Google Shape;208;g371f5948fbf_2_197:notes"/>
          <p:cNvSpPr txBox="1"/>
          <p:nvPr>
            <p:ph idx="12" type="sldNum"/>
          </p:nvPr>
        </p:nvSpPr>
        <p:spPr>
          <a:xfrm>
            <a:off x="0" y="0"/>
            <a:ext cx="25000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lang="en" sz="1400">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2ba5ee9d3_3_41:notes"/>
          <p:cNvSpPr/>
          <p:nvPr>
            <p:ph idx="2" type="sldImg"/>
          </p:nvPr>
        </p:nvSpPr>
        <p:spPr>
          <a:xfrm>
            <a:off x="0" y="0"/>
            <a:ext cx="1875000" cy="187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g372ba5ee9d3_3_41:notes"/>
          <p:cNvSpPr txBox="1"/>
          <p:nvPr>
            <p:ph idx="1" type="body"/>
          </p:nvPr>
        </p:nvSpPr>
        <p:spPr>
          <a:xfrm>
            <a:off x="0" y="0"/>
            <a:ext cx="2499900" cy="18750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Clr>
                <a:schemeClr val="dk1"/>
              </a:buClr>
              <a:buSzPts val="1100"/>
              <a:buFont typeface="Arial"/>
              <a:buNone/>
            </a:pPr>
            <a:r>
              <a:rPr lang="en">
                <a:solidFill>
                  <a:schemeClr val="dk1"/>
                </a:solidFill>
              </a:rPr>
              <a:t>XGBoost outperformed other models in accuracy and generalization, making it ideal for real-world deployment</a:t>
            </a:r>
            <a:endParaRPr>
              <a:solidFill>
                <a:schemeClr val="dk1"/>
              </a:solidFill>
            </a:endParaRPr>
          </a:p>
          <a:p>
            <a:pPr indent="0" lvl="0" marL="0" rtl="0" algn="l">
              <a:spcBef>
                <a:spcPts val="0"/>
              </a:spcBef>
              <a:spcAft>
                <a:spcPts val="0"/>
              </a:spcAft>
              <a:buNone/>
            </a:pPr>
            <a:r>
              <a:t/>
            </a:r>
            <a:endParaRPr>
              <a:solidFill>
                <a:schemeClr val="dk1"/>
              </a:solidFill>
              <a:latin typeface="PT Sans"/>
              <a:ea typeface="PT Sans"/>
              <a:cs typeface="PT Sans"/>
              <a:sym typeface="PT Sans"/>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7" name="Google Shape;217;g372ba5ee9d3_3_41:notes"/>
          <p:cNvSpPr txBox="1"/>
          <p:nvPr>
            <p:ph idx="12" type="sldNum"/>
          </p:nvPr>
        </p:nvSpPr>
        <p:spPr>
          <a:xfrm>
            <a:off x="0" y="0"/>
            <a:ext cx="2499900" cy="1875000"/>
          </a:xfrm>
          <a:prstGeom prst="rect">
            <a:avLst/>
          </a:prstGeom>
          <a:noFill/>
          <a:ln>
            <a:noFill/>
          </a:ln>
        </p:spPr>
        <p:txBody>
          <a:bodyPr anchorCtr="0" anchor="t" bIns="34900" lIns="69850" spcFirstLastPara="1" rIns="69850" wrap="square" tIns="34900">
            <a:noAutofit/>
          </a:bodyPr>
          <a:lstStyle/>
          <a:p>
            <a:pPr indent="0" lvl="0" marL="0" marR="0" rtl="0" algn="l">
              <a:spcBef>
                <a:spcPts val="0"/>
              </a:spcBef>
              <a:spcAft>
                <a:spcPts val="0"/>
              </a:spcAft>
              <a:buNone/>
            </a:pPr>
            <a:fld id="{00000000-1234-1234-1234-123412341234}" type="slidenum">
              <a:rPr lang="en" sz="1400">
                <a:solidFill>
                  <a:schemeClr val="dk1"/>
                </a:solidFill>
                <a:latin typeface="Calibri"/>
                <a:ea typeface="Calibri"/>
                <a:cs typeface="Calibri"/>
                <a:sym typeface="Calibri"/>
              </a:rPr>
              <a:t>‹#›</a:t>
            </a:fld>
            <a:endParaRPr sz="14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73325cd4b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73325cd4b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plan to expand our model from single-crop suitability to multi-class classification, enabling it to handle several crop types simultaneously.</a:t>
            </a:r>
            <a:endParaRPr/>
          </a:p>
          <a:p>
            <a:pPr indent="0" lvl="0" marL="0" rtl="0" algn="l">
              <a:spcBef>
                <a:spcPts val="0"/>
              </a:spcBef>
              <a:spcAft>
                <a:spcPts val="0"/>
              </a:spcAft>
              <a:buNone/>
            </a:pPr>
            <a:r>
              <a:rPr lang="en"/>
              <a:t>To ensure accuracy, we will validate predictions with real field data and work closely with local agronomists who understand on-the-ground conditions.</a:t>
            </a:r>
            <a:endParaRPr/>
          </a:p>
          <a:p>
            <a:pPr indent="0" lvl="0" marL="0" rtl="0" algn="l">
              <a:spcBef>
                <a:spcPts val="0"/>
              </a:spcBef>
              <a:spcAft>
                <a:spcPts val="0"/>
              </a:spcAft>
              <a:buNone/>
            </a:pPr>
            <a:r>
              <a:rPr lang="en"/>
              <a:t>Finally, we will strengthen our CNN pipeline by adding more geolocated training samples and using data augmentation techniques to improve performance.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71f5948fbf_2_214:notes"/>
          <p:cNvSpPr txBox="1"/>
          <p:nvPr>
            <p:ph idx="1" type="body"/>
          </p:nvPr>
        </p:nvSpPr>
        <p:spPr>
          <a:xfrm>
            <a:off x="685792" y="4343391"/>
            <a:ext cx="5486396" cy="4114797"/>
          </a:xfrm>
          <a:prstGeom prst="rect">
            <a:avLst/>
          </a:prstGeom>
        </p:spPr>
        <p:txBody>
          <a:bodyPr anchorCtr="0" anchor="t" bIns="69850" lIns="69850" spcFirstLastPara="1" rIns="69850" wrap="square" tIns="69850">
            <a:noAutofit/>
          </a:bodyPr>
          <a:lstStyle/>
          <a:p>
            <a:pPr indent="0" lvl="0" marL="0" rtl="0" algn="l">
              <a:spcBef>
                <a:spcPts val="0"/>
              </a:spcBef>
              <a:spcAft>
                <a:spcPts val="0"/>
              </a:spcAft>
              <a:buNone/>
            </a:pPr>
            <a:r>
              <a:t/>
            </a:r>
            <a:endParaRPr/>
          </a:p>
        </p:txBody>
      </p:sp>
      <p:sp>
        <p:nvSpPr>
          <p:cNvPr id="239" name="Google Shape;239;g371f5948fbf_2_214:notes"/>
          <p:cNvSpPr/>
          <p:nvPr>
            <p:ph idx="2" type="sldImg"/>
          </p:nvPr>
        </p:nvSpPr>
        <p:spPr>
          <a:xfrm>
            <a:off x="857406" y="685797"/>
            <a:ext cx="3429156"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51" name="Shape 51"/>
        <p:cNvGrpSpPr/>
        <p:nvPr/>
      </p:nvGrpSpPr>
      <p:grpSpPr>
        <a:xfrm>
          <a:off x="0" y="0"/>
          <a:ext cx="0" cy="0"/>
          <a:chOff x="0" y="0"/>
          <a:chExt cx="0" cy="0"/>
        </a:xfrm>
      </p:grpSpPr>
      <p:pic>
        <p:nvPicPr>
          <p:cNvPr descr="preencoded.png" id="52" name="Google Shape;52;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3" name="Google Shape;53;p14"/>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54" name="Google Shape;54;p14">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55" name="Shape 55"/>
        <p:cNvGrpSpPr/>
        <p:nvPr/>
      </p:nvGrpSpPr>
      <p:grpSpPr>
        <a:xfrm>
          <a:off x="0" y="0"/>
          <a:ext cx="0" cy="0"/>
          <a:chOff x="0" y="0"/>
          <a:chExt cx="0" cy="0"/>
        </a:xfrm>
      </p:grpSpPr>
      <p:pic>
        <p:nvPicPr>
          <p:cNvPr descr="preencoded.png" id="56" name="Google Shape;56;p1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7" name="Google Shape;57;p15"/>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58" name="Google Shape;58;p15">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59" name="Shape 59"/>
        <p:cNvGrpSpPr/>
        <p:nvPr/>
      </p:nvGrpSpPr>
      <p:grpSpPr>
        <a:xfrm>
          <a:off x="0" y="0"/>
          <a:ext cx="0" cy="0"/>
          <a:chOff x="0" y="0"/>
          <a:chExt cx="0" cy="0"/>
        </a:xfrm>
      </p:grpSpPr>
      <p:pic>
        <p:nvPicPr>
          <p:cNvPr descr="preencoded.png" id="60" name="Google Shape;60;p1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1" name="Google Shape;61;p16"/>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62" name="Google Shape;62;p16">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63" name="Shape 63"/>
        <p:cNvGrpSpPr/>
        <p:nvPr/>
      </p:nvGrpSpPr>
      <p:grpSpPr>
        <a:xfrm>
          <a:off x="0" y="0"/>
          <a:ext cx="0" cy="0"/>
          <a:chOff x="0" y="0"/>
          <a:chExt cx="0" cy="0"/>
        </a:xfrm>
      </p:grpSpPr>
      <p:pic>
        <p:nvPicPr>
          <p:cNvPr descr="preencoded.png" id="64" name="Google Shape;64;p1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5" name="Google Shape;65;p17"/>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66" name="Google Shape;66;p17">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67" name="Shape 67"/>
        <p:cNvGrpSpPr/>
        <p:nvPr/>
      </p:nvGrpSpPr>
      <p:grpSpPr>
        <a:xfrm>
          <a:off x="0" y="0"/>
          <a:ext cx="0" cy="0"/>
          <a:chOff x="0" y="0"/>
          <a:chExt cx="0" cy="0"/>
        </a:xfrm>
      </p:grpSpPr>
      <p:pic>
        <p:nvPicPr>
          <p:cNvPr descr="preencoded.png" id="68" name="Google Shape;68;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9" name="Google Shape;69;p18"/>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70" name="Google Shape;70;p18">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71" name="Shape 71"/>
        <p:cNvGrpSpPr/>
        <p:nvPr/>
      </p:nvGrpSpPr>
      <p:grpSpPr>
        <a:xfrm>
          <a:off x="0" y="0"/>
          <a:ext cx="0" cy="0"/>
          <a:chOff x="0" y="0"/>
          <a:chExt cx="0" cy="0"/>
        </a:xfrm>
      </p:grpSpPr>
      <p:pic>
        <p:nvPicPr>
          <p:cNvPr descr="preencoded.png" id="72" name="Google Shape;72;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3" name="Google Shape;73;p19"/>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74" name="Google Shape;74;p19">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75" name="Shape 75"/>
        <p:cNvGrpSpPr/>
        <p:nvPr/>
      </p:nvGrpSpPr>
      <p:grpSpPr>
        <a:xfrm>
          <a:off x="0" y="0"/>
          <a:ext cx="0" cy="0"/>
          <a:chOff x="0" y="0"/>
          <a:chExt cx="0" cy="0"/>
        </a:xfrm>
      </p:grpSpPr>
      <p:pic>
        <p:nvPicPr>
          <p:cNvPr descr="preencoded.png" id="76" name="Google Shape;76;p2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7" name="Google Shape;77;p20"/>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78" name="Google Shape;78;p20">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79" name="Shape 79"/>
        <p:cNvGrpSpPr/>
        <p:nvPr/>
      </p:nvGrpSpPr>
      <p:grpSpPr>
        <a:xfrm>
          <a:off x="0" y="0"/>
          <a:ext cx="0" cy="0"/>
          <a:chOff x="0" y="0"/>
          <a:chExt cx="0" cy="0"/>
        </a:xfrm>
      </p:grpSpPr>
      <p:pic>
        <p:nvPicPr>
          <p:cNvPr descr="preencoded.png" id="80" name="Google Shape;80;p2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1" name="Google Shape;81;p21"/>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82" name="Google Shape;82;p21">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83" name="Shape 83"/>
        <p:cNvGrpSpPr/>
        <p:nvPr/>
      </p:nvGrpSpPr>
      <p:grpSpPr>
        <a:xfrm>
          <a:off x="0" y="0"/>
          <a:ext cx="0" cy="0"/>
          <a:chOff x="0" y="0"/>
          <a:chExt cx="0" cy="0"/>
        </a:xfrm>
      </p:grpSpPr>
      <p:pic>
        <p:nvPicPr>
          <p:cNvPr descr="preencoded.png" id="84" name="Google Shape;84;p2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5" name="Google Shape;85;p22"/>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86" name="Google Shape;86;p22">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87" name="Shape 87"/>
        <p:cNvGrpSpPr/>
        <p:nvPr/>
      </p:nvGrpSpPr>
      <p:grpSpPr>
        <a:xfrm>
          <a:off x="0" y="0"/>
          <a:ext cx="0" cy="0"/>
          <a:chOff x="0" y="0"/>
          <a:chExt cx="0" cy="0"/>
        </a:xfrm>
      </p:grpSpPr>
      <p:pic>
        <p:nvPicPr>
          <p:cNvPr descr="preencoded.png" id="88" name="Google Shape;88;p2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9" name="Google Shape;89;p23"/>
          <p:cNvSpPr/>
          <p:nvPr/>
        </p:nvSpPr>
        <p:spPr>
          <a:xfrm>
            <a:off x="0" y="0"/>
            <a:ext cx="9144000" cy="5143500"/>
          </a:xfrm>
          <a:prstGeom prst="rect">
            <a:avLst/>
          </a:prstGeom>
          <a:solidFill>
            <a:srgbClr val="00002E">
              <a:alpha val="74901"/>
            </a:srgbClr>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90" name="Google Shape;90;p23">
            <a:hlinkClick r:id="rId3"/>
          </p:cNvPr>
          <p:cNvPicPr preferRelativeResize="0"/>
          <p:nvPr/>
        </p:nvPicPr>
        <p:blipFill rotWithShape="1">
          <a:blip r:embed="rId4">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1" name="Shape 9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comments" Target="../comments/commen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hyperlink" Target="https://northafricapost.com/82727-kenya-grapples-with-worst-drought-in-four-decades.html" TargetMode="External"/><Relationship Id="rId6" Type="http://schemas.openxmlformats.org/officeDocument/2006/relationships/hyperlink" Target="https://reliefweb.int/report/kenya/data-critical-tool-farmers-fight-drought-kenya" TargetMode="External"/><Relationship Id="rId7" Type="http://schemas.openxmlformats.org/officeDocument/2006/relationships/hyperlink" Target="https://internationalscholarsjournals.org/articles/5236100907012023" TargetMode="External"/><Relationship Id="rId8" Type="http://schemas.openxmlformats.org/officeDocument/2006/relationships/hyperlink" Target="https://www.aquahubkenya.co.ke/irrigation-farming-in-keny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6" name="Shape 96"/>
        <p:cNvGrpSpPr/>
        <p:nvPr/>
      </p:nvGrpSpPr>
      <p:grpSpPr>
        <a:xfrm>
          <a:off x="0" y="0"/>
          <a:ext cx="0" cy="0"/>
          <a:chOff x="0" y="0"/>
          <a:chExt cx="0" cy="0"/>
        </a:xfrm>
      </p:grpSpPr>
      <p:sp>
        <p:nvSpPr>
          <p:cNvPr id="97" name="Google Shape;97;p25"/>
          <p:cNvSpPr/>
          <p:nvPr/>
        </p:nvSpPr>
        <p:spPr>
          <a:xfrm>
            <a:off x="4149646" y="1700448"/>
            <a:ext cx="4667846" cy="880021"/>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FFFFFF"/>
              </a:buClr>
              <a:buSzPts val="3000"/>
              <a:buFont typeface="Nunito SemiBold"/>
              <a:buNone/>
            </a:pPr>
            <a:r>
              <a:rPr b="1" i="0" lang="en" sz="3000" u="none" cap="none" strike="noStrike">
                <a:solidFill>
                  <a:srgbClr val="FFFFFF"/>
                </a:solidFill>
                <a:latin typeface="Nunito SemiBold"/>
                <a:ea typeface="Nunito SemiBold"/>
                <a:cs typeface="Nunito SemiBold"/>
                <a:sym typeface="Nunito SemiBold"/>
              </a:rPr>
              <a:t>Geospatial Imaging for Crop Suitability in Kenya</a:t>
            </a:r>
            <a:endParaRPr b="0" i="0" sz="3000" u="none" cap="none" strike="noStrike">
              <a:solidFill>
                <a:schemeClr val="dk1"/>
              </a:solidFill>
              <a:latin typeface="Calibri"/>
              <a:ea typeface="Calibri"/>
              <a:cs typeface="Calibri"/>
              <a:sym typeface="Calibri"/>
            </a:endParaRPr>
          </a:p>
        </p:txBody>
      </p:sp>
      <p:sp>
        <p:nvSpPr>
          <p:cNvPr id="98" name="Google Shape;98;p25"/>
          <p:cNvSpPr/>
          <p:nvPr/>
        </p:nvSpPr>
        <p:spPr>
          <a:xfrm>
            <a:off x="4149646" y="3248364"/>
            <a:ext cx="4667846" cy="880231"/>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FFFFFF"/>
              </a:buClr>
              <a:buSzPts val="2000"/>
              <a:buFont typeface="PT Sans"/>
              <a:buNone/>
            </a:pPr>
            <a:r>
              <a:rPr b="0" i="0" lang="en" sz="2000" u="none" cap="none" strike="noStrike">
                <a:solidFill>
                  <a:srgbClr val="FFFFFF"/>
                </a:solidFill>
                <a:latin typeface="PT Sans"/>
                <a:ea typeface="PT Sans"/>
                <a:cs typeface="PT Sans"/>
                <a:sym typeface="PT Sans"/>
              </a:rPr>
              <a:t>Using satellite imagery and machine learning for smarter agriculture</a:t>
            </a:r>
            <a:endParaRPr b="0" i="0" sz="2000" u="none" cap="none" strike="noStrike">
              <a:solidFill>
                <a:schemeClr val="dk1"/>
              </a:solidFill>
              <a:latin typeface="Calibri"/>
              <a:ea typeface="Calibri"/>
              <a:cs typeface="Calibri"/>
              <a:sym typeface="Calibri"/>
            </a:endParaRPr>
          </a:p>
        </p:txBody>
      </p:sp>
      <p:pic>
        <p:nvPicPr>
          <p:cNvPr descr="preencoded.png" id="99" name="Google Shape;99;p25"/>
          <p:cNvPicPr preferRelativeResize="0"/>
          <p:nvPr/>
        </p:nvPicPr>
        <p:blipFill rotWithShape="1">
          <a:blip r:embed="rId3">
            <a:alphaModFix/>
          </a:blip>
          <a:srcRect b="0" l="0" r="0" t="0"/>
          <a:stretch/>
        </p:blipFill>
        <p:spPr>
          <a:xfrm>
            <a:off x="0" y="42347"/>
            <a:ext cx="3961086" cy="5143500"/>
          </a:xfrm>
          <a:prstGeom prst="rect">
            <a:avLst/>
          </a:prstGeom>
          <a:noFill/>
          <a:ln>
            <a:noFill/>
          </a:ln>
        </p:spPr>
      </p:pic>
      <p:sp>
        <p:nvSpPr>
          <p:cNvPr id="100" name="Google Shape;100;p25"/>
          <p:cNvSpPr txBox="1"/>
          <p:nvPr/>
        </p:nvSpPr>
        <p:spPr>
          <a:xfrm flipH="1">
            <a:off x="4079327" y="807982"/>
            <a:ext cx="3832991" cy="338915"/>
          </a:xfrm>
          <a:prstGeom prst="rect">
            <a:avLst/>
          </a:prstGeom>
          <a:noFill/>
          <a:ln>
            <a:noFill/>
          </a:ln>
        </p:spPr>
        <p:txBody>
          <a:bodyPr anchorCtr="0" anchor="t" bIns="28575" lIns="57150" spcFirstLastPara="1" rIns="57150" wrap="square" tIns="28575">
            <a:spAutoFit/>
          </a:bodyPr>
          <a:lstStyle/>
          <a:p>
            <a:pPr indent="0" lvl="0" marL="0" marR="0" rtl="0" algn="l">
              <a:lnSpc>
                <a:spcPct val="62500"/>
              </a:lnSpc>
              <a:spcBef>
                <a:spcPts val="0"/>
              </a:spcBef>
              <a:spcAft>
                <a:spcPts val="0"/>
              </a:spcAft>
              <a:buNone/>
            </a:pPr>
            <a:r>
              <a:rPr b="0" i="0" lang="en" sz="1100" u="none" cap="none" strike="noStrike">
                <a:solidFill>
                  <a:srgbClr val="FFFFFF"/>
                </a:solidFill>
                <a:latin typeface="PT Sans"/>
                <a:ea typeface="PT Sans"/>
                <a:cs typeface="PT Sans"/>
                <a:sym typeface="PT Sans"/>
              </a:rPr>
              <a:t> </a:t>
            </a:r>
            <a:r>
              <a:rPr b="0" i="0" lang="en" sz="3000" u="none" cap="none" strike="noStrike">
                <a:solidFill>
                  <a:srgbClr val="FFFFFF"/>
                </a:solidFill>
                <a:latin typeface="PT Sans"/>
                <a:ea typeface="PT Sans"/>
                <a:cs typeface="PT Sans"/>
                <a:sym typeface="PT Sans"/>
              </a:rPr>
              <a:t>CAPSTONE PROJECT</a:t>
            </a:r>
            <a:endParaRPr b="0" i="0" sz="3000" u="none" cap="none" strike="noStrike">
              <a:solidFill>
                <a:schemeClr val="dk1"/>
              </a:solidFill>
              <a:latin typeface="Calibri"/>
              <a:ea typeface="Calibri"/>
              <a:cs typeface="Calibri"/>
              <a:sym typeface="Calibri"/>
            </a:endParaRPr>
          </a:p>
        </p:txBody>
      </p:sp>
      <p:sp>
        <p:nvSpPr>
          <p:cNvPr id="101" name="Google Shape;101;p25"/>
          <p:cNvSpPr/>
          <p:nvPr/>
        </p:nvSpPr>
        <p:spPr>
          <a:xfrm>
            <a:off x="8040414" y="4887311"/>
            <a:ext cx="1014905" cy="177362"/>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b="0" i="0" sz="1100" u="none" cap="none" strike="noStrike">
              <a:solidFill>
                <a:schemeClr val="lt1"/>
              </a:solidFill>
              <a:latin typeface="Calibri"/>
              <a:ea typeface="Calibri"/>
              <a:cs typeface="Calibri"/>
              <a:sym typeface="Calibri"/>
            </a:endParaRPr>
          </a:p>
        </p:txBody>
      </p:sp>
      <p:sp>
        <p:nvSpPr>
          <p:cNvPr id="102" name="Google Shape;102;p25"/>
          <p:cNvSpPr/>
          <p:nvPr/>
        </p:nvSpPr>
        <p:spPr>
          <a:xfrm>
            <a:off x="4020207" y="1146898"/>
            <a:ext cx="5035112" cy="114344"/>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b="0" i="0" sz="1100" u="none" cap="none" strike="noStrike">
              <a:solidFill>
                <a:schemeClr val="lt1"/>
              </a:solidFill>
              <a:latin typeface="Calibri"/>
              <a:ea typeface="Calibri"/>
              <a:cs typeface="Calibri"/>
              <a:sym typeface="Calibri"/>
            </a:endParaRPr>
          </a:p>
        </p:txBody>
      </p:sp>
      <p:sp>
        <p:nvSpPr>
          <p:cNvPr id="103" name="Google Shape;103;p25"/>
          <p:cNvSpPr/>
          <p:nvPr/>
        </p:nvSpPr>
        <p:spPr>
          <a:xfrm>
            <a:off x="8040414" y="4887311"/>
            <a:ext cx="1014905" cy="177362"/>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b="0" i="0" sz="11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p:nvPr/>
        </p:nvSpPr>
        <p:spPr>
          <a:xfrm>
            <a:off x="319609" y="134814"/>
            <a:ext cx="8096700" cy="1139400"/>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t/>
            </a:r>
            <a:endParaRPr sz="900"/>
          </a:p>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Navigating Agricultural Uncertainty</a:t>
            </a:r>
            <a:endParaRPr b="1" sz="2800">
              <a:solidFill>
                <a:schemeClr val="dk1"/>
              </a:solidFill>
              <a:latin typeface="Nunito SemiBold"/>
              <a:ea typeface="Nunito SemiBold"/>
              <a:cs typeface="Nunito SemiBold"/>
              <a:sym typeface="Nunito SemiBold"/>
            </a:endParaRPr>
          </a:p>
        </p:txBody>
      </p:sp>
      <p:sp>
        <p:nvSpPr>
          <p:cNvPr id="110" name="Google Shape;110;p26"/>
          <p:cNvSpPr/>
          <p:nvPr/>
        </p:nvSpPr>
        <p:spPr>
          <a:xfrm>
            <a:off x="8060121" y="4828189"/>
            <a:ext cx="1014900" cy="226500"/>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111" name="Google Shape;111;p26"/>
          <p:cNvSpPr/>
          <p:nvPr/>
        </p:nvSpPr>
        <p:spPr>
          <a:xfrm>
            <a:off x="8060121" y="4828189"/>
            <a:ext cx="1014900" cy="226500"/>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pic>
        <p:nvPicPr>
          <p:cNvPr id="112" name="Google Shape;112;p26"/>
          <p:cNvPicPr preferRelativeResize="0"/>
          <p:nvPr/>
        </p:nvPicPr>
        <p:blipFill>
          <a:blip r:embed="rId3">
            <a:alphaModFix/>
          </a:blip>
          <a:stretch>
            <a:fillRect/>
          </a:stretch>
        </p:blipFill>
        <p:spPr>
          <a:xfrm>
            <a:off x="152400" y="1426691"/>
            <a:ext cx="4064052" cy="2286029"/>
          </a:xfrm>
          <a:prstGeom prst="rect">
            <a:avLst/>
          </a:prstGeom>
          <a:noFill/>
          <a:ln>
            <a:noFill/>
          </a:ln>
        </p:spPr>
      </p:pic>
      <p:sp>
        <p:nvSpPr>
          <p:cNvPr id="113" name="Google Shape;113;p26"/>
          <p:cNvSpPr/>
          <p:nvPr/>
        </p:nvSpPr>
        <p:spPr>
          <a:xfrm>
            <a:off x="5568250" y="1125750"/>
            <a:ext cx="3060300" cy="28920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0" lvl="0" marL="0" rtl="0" algn="l">
              <a:lnSpc>
                <a:spcPct val="118750"/>
              </a:lnSpc>
              <a:spcBef>
                <a:spcPts val="0"/>
              </a:spcBef>
              <a:spcAft>
                <a:spcPts val="0"/>
              </a:spcAft>
              <a:buClr>
                <a:schemeClr val="dk1"/>
              </a:buClr>
              <a:buFont typeface="Arial"/>
              <a:buNone/>
            </a:pPr>
            <a:r>
              <a:rPr lang="en" sz="1500">
                <a:solidFill>
                  <a:schemeClr val="lt1"/>
                </a:solidFill>
                <a:latin typeface="PT Sans"/>
                <a:ea typeface="PT Sans"/>
                <a:cs typeface="PT Sans"/>
                <a:sym typeface="PT Sans"/>
              </a:rPr>
              <a:t>Kenyan farmers face difficulty with crop placement due to Lack of accessible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p:nvPr/>
        </p:nvSpPr>
        <p:spPr>
          <a:xfrm>
            <a:off x="319609" y="134814"/>
            <a:ext cx="8096845" cy="1139477"/>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t/>
            </a:r>
            <a:endParaRPr sz="900"/>
          </a:p>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Navigating Agricultural Uncertainty</a:t>
            </a:r>
            <a:endParaRPr b="1" sz="2800">
              <a:solidFill>
                <a:schemeClr val="dk1"/>
              </a:solidFill>
              <a:latin typeface="Nunito SemiBold"/>
              <a:ea typeface="Nunito SemiBold"/>
              <a:cs typeface="Nunito SemiBold"/>
              <a:sym typeface="Nunito SemiBold"/>
            </a:endParaRPr>
          </a:p>
        </p:txBody>
      </p:sp>
      <p:sp>
        <p:nvSpPr>
          <p:cNvPr id="120" name="Google Shape;120;p27"/>
          <p:cNvSpPr/>
          <p:nvPr/>
        </p:nvSpPr>
        <p:spPr>
          <a:xfrm>
            <a:off x="8060121" y="4828189"/>
            <a:ext cx="1014905" cy="226629"/>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121" name="Google Shape;121;p27"/>
          <p:cNvSpPr/>
          <p:nvPr/>
        </p:nvSpPr>
        <p:spPr>
          <a:xfrm>
            <a:off x="8060121" y="4828189"/>
            <a:ext cx="1014905" cy="226629"/>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pic>
        <p:nvPicPr>
          <p:cNvPr id="122" name="Google Shape;122;p27"/>
          <p:cNvPicPr preferRelativeResize="0"/>
          <p:nvPr/>
        </p:nvPicPr>
        <p:blipFill>
          <a:blip r:embed="rId4">
            <a:alphaModFix/>
          </a:blip>
          <a:stretch>
            <a:fillRect/>
          </a:stretch>
        </p:blipFill>
        <p:spPr>
          <a:xfrm>
            <a:off x="152400" y="1426691"/>
            <a:ext cx="4064052" cy="2286029"/>
          </a:xfrm>
          <a:prstGeom prst="rect">
            <a:avLst/>
          </a:prstGeom>
          <a:noFill/>
          <a:ln>
            <a:noFill/>
          </a:ln>
        </p:spPr>
      </p:pic>
      <p:sp>
        <p:nvSpPr>
          <p:cNvPr id="123" name="Google Shape;123;p27"/>
          <p:cNvSpPr/>
          <p:nvPr/>
        </p:nvSpPr>
        <p:spPr>
          <a:xfrm>
            <a:off x="5310500" y="1181775"/>
            <a:ext cx="3060300" cy="28920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0" lvl="0" marL="0" rtl="0" algn="l">
              <a:lnSpc>
                <a:spcPct val="118750"/>
              </a:lnSpc>
              <a:spcBef>
                <a:spcPts val="0"/>
              </a:spcBef>
              <a:spcAft>
                <a:spcPts val="0"/>
              </a:spcAft>
              <a:buNone/>
            </a:pPr>
            <a:r>
              <a:rPr lang="en" sz="1500">
                <a:solidFill>
                  <a:schemeClr val="lt1"/>
                </a:solidFill>
                <a:latin typeface="PT Sans"/>
                <a:ea typeface="PT Sans"/>
                <a:cs typeface="PT Sans"/>
                <a:sym typeface="PT Sans"/>
              </a:rPr>
              <a:t>Lack of accessible, data results in:</a:t>
            </a:r>
            <a:endParaRPr sz="1500">
              <a:solidFill>
                <a:schemeClr val="lt1"/>
              </a:solidFill>
              <a:latin typeface="PT Sans"/>
              <a:ea typeface="PT Sans"/>
              <a:cs typeface="PT Sans"/>
              <a:sym typeface="PT Sans"/>
            </a:endParaRPr>
          </a:p>
          <a:p>
            <a:pPr indent="-323850" lvl="0" marL="457200" rtl="0" algn="l">
              <a:lnSpc>
                <a:spcPct val="118750"/>
              </a:lnSpc>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Poor decision-making</a:t>
            </a:r>
            <a:endParaRPr sz="1500">
              <a:solidFill>
                <a:schemeClr val="lt1"/>
              </a:solidFill>
              <a:latin typeface="PT Sans"/>
              <a:ea typeface="PT Sans"/>
              <a:cs typeface="PT Sans"/>
              <a:sym typeface="PT Sans"/>
            </a:endParaRPr>
          </a:p>
          <a:p>
            <a:pPr indent="-323850" lvl="0" marL="457200" rtl="0" algn="l">
              <a:lnSpc>
                <a:spcPct val="118750"/>
              </a:lnSpc>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Low crop yields</a:t>
            </a:r>
            <a:endParaRPr sz="1500">
              <a:solidFill>
                <a:schemeClr val="lt1"/>
              </a:solidFill>
              <a:latin typeface="PT Sans"/>
              <a:ea typeface="PT Sans"/>
              <a:cs typeface="PT Sans"/>
              <a:sym typeface="PT Sans"/>
            </a:endParaRPr>
          </a:p>
          <a:p>
            <a:pPr indent="-323850" lvl="0" marL="457200" rtl="0" algn="l">
              <a:lnSpc>
                <a:spcPct val="118750"/>
              </a:lnSpc>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Increased risk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8"/>
          <p:cNvSpPr/>
          <p:nvPr/>
        </p:nvSpPr>
        <p:spPr>
          <a:xfrm>
            <a:off x="319609" y="134814"/>
            <a:ext cx="8096700" cy="1139400"/>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t/>
            </a:r>
            <a:endParaRPr sz="900"/>
          </a:p>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Navigating Agricultural Uncertainty</a:t>
            </a:r>
            <a:endParaRPr b="1" sz="2800">
              <a:solidFill>
                <a:schemeClr val="dk1"/>
              </a:solidFill>
              <a:latin typeface="Nunito SemiBold"/>
              <a:ea typeface="Nunito SemiBold"/>
              <a:cs typeface="Nunito SemiBold"/>
              <a:sym typeface="Nunito SemiBold"/>
            </a:endParaRPr>
          </a:p>
        </p:txBody>
      </p:sp>
      <p:pic>
        <p:nvPicPr>
          <p:cNvPr id="129" name="Google Shape;129;p28"/>
          <p:cNvPicPr preferRelativeResize="0"/>
          <p:nvPr/>
        </p:nvPicPr>
        <p:blipFill rotWithShape="1">
          <a:blip r:embed="rId3">
            <a:alphaModFix/>
          </a:blip>
          <a:srcRect b="0" l="3061" r="1564" t="0"/>
          <a:stretch/>
        </p:blipFill>
        <p:spPr>
          <a:xfrm>
            <a:off x="710688" y="850325"/>
            <a:ext cx="7722625" cy="3991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9"/>
          <p:cNvPicPr preferRelativeResize="0"/>
          <p:nvPr/>
        </p:nvPicPr>
        <p:blipFill rotWithShape="1">
          <a:blip r:embed="rId3">
            <a:alphaModFix/>
          </a:blip>
          <a:srcRect b="0" l="25132" r="0" t="0"/>
          <a:stretch/>
        </p:blipFill>
        <p:spPr>
          <a:xfrm>
            <a:off x="319600" y="1274225"/>
            <a:ext cx="4713625" cy="2323325"/>
          </a:xfrm>
          <a:prstGeom prst="rect">
            <a:avLst/>
          </a:prstGeom>
          <a:noFill/>
          <a:ln>
            <a:noFill/>
          </a:ln>
        </p:spPr>
      </p:pic>
      <p:sp>
        <p:nvSpPr>
          <p:cNvPr id="135" name="Google Shape;135;p29"/>
          <p:cNvSpPr/>
          <p:nvPr/>
        </p:nvSpPr>
        <p:spPr>
          <a:xfrm>
            <a:off x="5327625" y="830175"/>
            <a:ext cx="3452700" cy="40671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endParaRPr>
          </a:p>
          <a:p>
            <a:pPr indent="0" lvl="0" marL="457200" rtl="0" algn="l">
              <a:spcBef>
                <a:spcPts val="0"/>
              </a:spcBef>
              <a:spcAft>
                <a:spcPts val="0"/>
              </a:spcAft>
              <a:buNone/>
            </a:pPr>
            <a:r>
              <a:t/>
            </a:r>
            <a:endParaRPr sz="1500">
              <a:solidFill>
                <a:schemeClr val="lt1"/>
              </a:solidFill>
              <a:latin typeface="PT Sans"/>
              <a:ea typeface="PT Sans"/>
              <a:cs typeface="PT Sans"/>
              <a:sym typeface="PT Sans"/>
            </a:endParaRPr>
          </a:p>
          <a:p>
            <a:pPr indent="0" lvl="0" marL="0" rtl="0" algn="l">
              <a:spcBef>
                <a:spcPts val="0"/>
              </a:spcBef>
              <a:spcAft>
                <a:spcPts val="0"/>
              </a:spcAft>
              <a:buNone/>
            </a:pPr>
            <a:r>
              <a:t/>
            </a:r>
            <a:endParaRPr sz="1500">
              <a:solidFill>
                <a:schemeClr val="lt1"/>
              </a:solidFill>
              <a:latin typeface="PT Sans"/>
              <a:ea typeface="PT Sans"/>
              <a:cs typeface="PT Sans"/>
              <a:sym typeface="PT Sans"/>
            </a:endParaRPr>
          </a:p>
          <a:p>
            <a:pPr indent="-323850" lvl="0" marL="4572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Severe decline in agricultural production.</a:t>
            </a:r>
            <a:endParaRPr sz="1500">
              <a:solidFill>
                <a:schemeClr val="lt1"/>
              </a:solidFill>
              <a:latin typeface="PT Sans"/>
              <a:ea typeface="PT Sans"/>
              <a:cs typeface="PT Sans"/>
              <a:sym typeface="PT Sans"/>
            </a:endParaRPr>
          </a:p>
          <a:p>
            <a:pPr indent="-323850" lvl="0" marL="4572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Families lost:</a:t>
            </a:r>
            <a:endParaRPr sz="1500">
              <a:solidFill>
                <a:schemeClr val="lt1"/>
              </a:solidFill>
              <a:latin typeface="PT Sans"/>
              <a:ea typeface="PT Sans"/>
              <a:cs typeface="PT Sans"/>
              <a:sym typeface="PT Sans"/>
            </a:endParaRPr>
          </a:p>
          <a:p>
            <a:pPr indent="-323850" lvl="1" marL="9144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Cattle</a:t>
            </a:r>
            <a:endParaRPr sz="1500">
              <a:solidFill>
                <a:schemeClr val="lt1"/>
              </a:solidFill>
              <a:latin typeface="PT Sans"/>
              <a:ea typeface="PT Sans"/>
              <a:cs typeface="PT Sans"/>
              <a:sym typeface="PT Sans"/>
            </a:endParaRPr>
          </a:p>
          <a:p>
            <a:pPr indent="-323850" lvl="1" marL="9144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Crops</a:t>
            </a:r>
            <a:endParaRPr sz="1500">
              <a:solidFill>
                <a:schemeClr val="lt1"/>
              </a:solidFill>
              <a:latin typeface="PT Sans"/>
              <a:ea typeface="PT Sans"/>
              <a:cs typeface="PT Sans"/>
              <a:sym typeface="PT Sans"/>
            </a:endParaRPr>
          </a:p>
          <a:p>
            <a:pPr indent="-323850" lvl="1" marL="9144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Livelihoods</a:t>
            </a:r>
            <a:endParaRPr sz="1500">
              <a:solidFill>
                <a:schemeClr val="lt1"/>
              </a:solidFill>
              <a:latin typeface="PT Sans"/>
              <a:ea typeface="PT Sans"/>
              <a:cs typeface="PT Sans"/>
              <a:sym typeface="PT Sans"/>
            </a:endParaRPr>
          </a:p>
          <a:p>
            <a:pPr indent="-323850" lvl="0" marL="4572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Millions of children under age five faced malnutrition</a:t>
            </a:r>
            <a:endParaRPr sz="1500">
              <a:solidFill>
                <a:schemeClr val="lt1"/>
              </a:solidFill>
              <a:latin typeface="PT Sans"/>
              <a:ea typeface="PT Sans"/>
              <a:cs typeface="PT Sans"/>
              <a:sym typeface="PT Sans"/>
            </a:endParaRPr>
          </a:p>
          <a:p>
            <a:pPr indent="0" lvl="0" marL="457200" rtl="0" algn="l">
              <a:spcBef>
                <a:spcPts val="0"/>
              </a:spcBef>
              <a:spcAft>
                <a:spcPts val="0"/>
              </a:spcAft>
              <a:buClr>
                <a:schemeClr val="dk1"/>
              </a:buClr>
              <a:buSzPts val="1100"/>
              <a:buFont typeface="Arial"/>
              <a:buNone/>
            </a:pPr>
            <a:r>
              <a:t/>
            </a:r>
            <a:endParaRPr sz="1500">
              <a:solidFill>
                <a:schemeClr val="lt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lt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lt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500">
              <a:solidFill>
                <a:schemeClr val="lt1"/>
              </a:solidFill>
              <a:latin typeface="PT Sans"/>
              <a:ea typeface="PT Sans"/>
              <a:cs typeface="PT Sans"/>
              <a:sym typeface="PT Sans"/>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endParaRPr>
          </a:p>
        </p:txBody>
      </p:sp>
      <p:sp>
        <p:nvSpPr>
          <p:cNvPr id="136" name="Google Shape;136;p29"/>
          <p:cNvSpPr/>
          <p:nvPr/>
        </p:nvSpPr>
        <p:spPr>
          <a:xfrm>
            <a:off x="319609" y="134814"/>
            <a:ext cx="8096700" cy="1139400"/>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t/>
            </a:r>
            <a:endParaRPr sz="900"/>
          </a:p>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Impact of the 2024 Droughts</a:t>
            </a:r>
            <a:endParaRPr b="1" sz="2800">
              <a:solidFill>
                <a:srgbClr val="FFFFFF"/>
              </a:solidFill>
              <a:latin typeface="Nunito SemiBold"/>
              <a:ea typeface="Nunito SemiBold"/>
              <a:cs typeface="Nunito SemiBold"/>
              <a:sym typeface="Nunito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p:nvPr/>
        </p:nvSpPr>
        <p:spPr>
          <a:xfrm>
            <a:off x="5327625" y="1159950"/>
            <a:ext cx="3452700" cy="37374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sz="1500">
              <a:solidFill>
                <a:schemeClr val="lt1"/>
              </a:solidFill>
              <a:latin typeface="PT Sans"/>
              <a:ea typeface="PT Sans"/>
              <a:cs typeface="PT Sans"/>
              <a:sym typeface="PT Sans"/>
            </a:endParaRPr>
          </a:p>
          <a:p>
            <a:pPr indent="-323850" lvl="0" marL="4572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Crop placement must be data-driven.</a:t>
            </a:r>
            <a:endParaRPr sz="1500">
              <a:solidFill>
                <a:schemeClr val="lt1"/>
              </a:solidFill>
              <a:latin typeface="PT Sans"/>
              <a:ea typeface="PT Sans"/>
              <a:cs typeface="PT Sans"/>
              <a:sym typeface="PT Sans"/>
            </a:endParaRPr>
          </a:p>
          <a:p>
            <a:pPr indent="-323850" lvl="0" marL="4572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Precision farming helps:</a:t>
            </a:r>
            <a:endParaRPr sz="1500">
              <a:solidFill>
                <a:schemeClr val="lt1"/>
              </a:solidFill>
              <a:latin typeface="PT Sans"/>
              <a:ea typeface="PT Sans"/>
              <a:cs typeface="PT Sans"/>
              <a:sym typeface="PT Sans"/>
            </a:endParaRPr>
          </a:p>
          <a:p>
            <a:pPr indent="-323850" lvl="1" marL="9144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Maximize yields</a:t>
            </a:r>
            <a:endParaRPr sz="1500">
              <a:solidFill>
                <a:schemeClr val="lt1"/>
              </a:solidFill>
              <a:latin typeface="PT Sans"/>
              <a:ea typeface="PT Sans"/>
              <a:cs typeface="PT Sans"/>
              <a:sym typeface="PT Sans"/>
            </a:endParaRPr>
          </a:p>
          <a:p>
            <a:pPr indent="-323850" lvl="1" marL="9144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Safeguard livelihoods</a:t>
            </a:r>
            <a:endParaRPr sz="1500">
              <a:solidFill>
                <a:schemeClr val="lt1"/>
              </a:solidFill>
              <a:latin typeface="PT Sans"/>
              <a:ea typeface="PT Sans"/>
              <a:cs typeface="PT Sans"/>
              <a:sym typeface="PT Sans"/>
            </a:endParaRPr>
          </a:p>
        </p:txBody>
      </p:sp>
      <p:sp>
        <p:nvSpPr>
          <p:cNvPr id="142" name="Google Shape;142;p30"/>
          <p:cNvSpPr/>
          <p:nvPr/>
        </p:nvSpPr>
        <p:spPr>
          <a:xfrm>
            <a:off x="319609" y="134814"/>
            <a:ext cx="8096700" cy="1139400"/>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t/>
            </a:r>
            <a:endParaRPr sz="900"/>
          </a:p>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Navigating Agricultural Uncertainty</a:t>
            </a:r>
            <a:endParaRPr b="1" sz="2800">
              <a:solidFill>
                <a:schemeClr val="dk1"/>
              </a:solidFill>
              <a:latin typeface="Nunito SemiBold"/>
              <a:ea typeface="Nunito SemiBold"/>
              <a:cs typeface="Nunito SemiBold"/>
              <a:sym typeface="Nunito SemiBold"/>
            </a:endParaRPr>
          </a:p>
        </p:txBody>
      </p:sp>
      <p:pic>
        <p:nvPicPr>
          <p:cNvPr id="143" name="Google Shape;143;p30"/>
          <p:cNvPicPr preferRelativeResize="0"/>
          <p:nvPr/>
        </p:nvPicPr>
        <p:blipFill>
          <a:blip r:embed="rId3">
            <a:alphaModFix/>
          </a:blip>
          <a:stretch>
            <a:fillRect/>
          </a:stretch>
        </p:blipFill>
        <p:spPr>
          <a:xfrm>
            <a:off x="502075" y="893851"/>
            <a:ext cx="4069925" cy="400349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1"/>
          <p:cNvSpPr/>
          <p:nvPr/>
        </p:nvSpPr>
        <p:spPr>
          <a:xfrm>
            <a:off x="5773150" y="901763"/>
            <a:ext cx="3007200" cy="37374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0" lvl="0" marL="0" rtl="0" algn="l">
              <a:spcBef>
                <a:spcPts val="0"/>
              </a:spcBef>
              <a:spcAft>
                <a:spcPts val="0"/>
              </a:spcAft>
              <a:buClr>
                <a:schemeClr val="dk1"/>
              </a:buClr>
              <a:buSzPts val="1100"/>
              <a:buFont typeface="Arial"/>
              <a:buNone/>
            </a:pPr>
            <a:r>
              <a:rPr lang="en" sz="1500">
                <a:solidFill>
                  <a:schemeClr val="lt1"/>
                </a:solidFill>
                <a:latin typeface="PT Sans"/>
                <a:ea typeface="PT Sans"/>
                <a:cs typeface="PT Sans"/>
                <a:sym typeface="PT Sans"/>
              </a:rPr>
              <a:t>By planting at the perfect time and conditions will lead to:</a:t>
            </a:r>
            <a:endParaRPr sz="1500">
              <a:solidFill>
                <a:schemeClr val="lt1"/>
              </a:solidFill>
              <a:latin typeface="PT Sans"/>
              <a:ea typeface="PT Sans"/>
              <a:cs typeface="PT Sans"/>
              <a:sym typeface="PT Sans"/>
            </a:endParaRPr>
          </a:p>
          <a:p>
            <a:pPr indent="-323850" lvl="0" marL="4572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Cost savings (e.g., fertilizer, water).</a:t>
            </a:r>
            <a:endParaRPr sz="1500">
              <a:solidFill>
                <a:schemeClr val="lt1"/>
              </a:solidFill>
              <a:latin typeface="PT Sans"/>
              <a:ea typeface="PT Sans"/>
              <a:cs typeface="PT Sans"/>
              <a:sym typeface="PT Sans"/>
            </a:endParaRPr>
          </a:p>
          <a:p>
            <a:pPr indent="-323850" lvl="0" marL="457200" rtl="0" algn="l">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Efficiency in growth</a:t>
            </a:r>
            <a:r>
              <a:rPr lang="en" sz="1500">
                <a:solidFill>
                  <a:schemeClr val="lt1"/>
                </a:solidFill>
                <a:latin typeface="PT Sans"/>
                <a:ea typeface="PT Sans"/>
                <a:cs typeface="PT Sans"/>
                <a:sym typeface="PT Sans"/>
              </a:rPr>
              <a:t>.</a:t>
            </a:r>
            <a:endParaRPr sz="1500">
              <a:solidFill>
                <a:schemeClr val="lt1"/>
              </a:solidFill>
              <a:latin typeface="PT Sans"/>
              <a:ea typeface="PT Sans"/>
              <a:cs typeface="PT Sans"/>
              <a:sym typeface="PT Sans"/>
            </a:endParaRPr>
          </a:p>
        </p:txBody>
      </p:sp>
      <p:sp>
        <p:nvSpPr>
          <p:cNvPr id="149" name="Google Shape;149;p31"/>
          <p:cNvSpPr/>
          <p:nvPr/>
        </p:nvSpPr>
        <p:spPr>
          <a:xfrm>
            <a:off x="319609" y="134814"/>
            <a:ext cx="8096700" cy="1139400"/>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t/>
            </a:r>
            <a:endParaRPr sz="900"/>
          </a:p>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Navigating Agricultural Uncertainty</a:t>
            </a:r>
            <a:endParaRPr b="1" sz="2800">
              <a:solidFill>
                <a:schemeClr val="dk1"/>
              </a:solidFill>
              <a:latin typeface="Nunito SemiBold"/>
              <a:ea typeface="Nunito SemiBold"/>
              <a:cs typeface="Nunito SemiBold"/>
              <a:sym typeface="Nunito SemiBold"/>
            </a:endParaRPr>
          </a:p>
        </p:txBody>
      </p:sp>
      <p:pic>
        <p:nvPicPr>
          <p:cNvPr id="150" name="Google Shape;150;p31"/>
          <p:cNvPicPr preferRelativeResize="0"/>
          <p:nvPr/>
        </p:nvPicPr>
        <p:blipFill>
          <a:blip r:embed="rId4">
            <a:alphaModFix/>
          </a:blip>
          <a:stretch>
            <a:fillRect/>
          </a:stretch>
        </p:blipFill>
        <p:spPr>
          <a:xfrm>
            <a:off x="540700" y="988214"/>
            <a:ext cx="3547907" cy="35644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2"/>
          <p:cNvSpPr/>
          <p:nvPr/>
        </p:nvSpPr>
        <p:spPr>
          <a:xfrm>
            <a:off x="5773150" y="1274224"/>
            <a:ext cx="3007200" cy="33651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323850" lvl="0" marL="457200" rtl="0" algn="l">
              <a:lnSpc>
                <a:spcPct val="155555"/>
              </a:lnSpc>
              <a:spcBef>
                <a:spcPts val="60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Drip Irrigation: KES 75,000 – 160,000 per acre</a:t>
            </a:r>
            <a:endParaRPr sz="1500">
              <a:solidFill>
                <a:schemeClr val="lt1"/>
              </a:solidFill>
              <a:latin typeface="PT Sans"/>
              <a:ea typeface="PT Sans"/>
              <a:cs typeface="PT Sans"/>
              <a:sym typeface="PT Sans"/>
            </a:endParaRPr>
          </a:p>
          <a:p>
            <a:pPr indent="-323850" lvl="0" marL="457200" rtl="0" algn="l">
              <a:lnSpc>
                <a:spcPct val="155555"/>
              </a:lnSpc>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Sprinklers: KES 500 – 45,000 (varies by type and size)</a:t>
            </a:r>
            <a:endParaRPr sz="1500">
              <a:solidFill>
                <a:schemeClr val="lt1"/>
              </a:solidFill>
              <a:latin typeface="PT Sans"/>
              <a:ea typeface="PT Sans"/>
              <a:cs typeface="PT Sans"/>
              <a:sym typeface="PT Sans"/>
            </a:endParaRPr>
          </a:p>
          <a:p>
            <a:pPr indent="-323850" lvl="0" marL="457200" rtl="0" algn="l">
              <a:lnSpc>
                <a:spcPct val="155555"/>
              </a:lnSpc>
              <a:spcBef>
                <a:spcPts val="0"/>
              </a:spcBef>
              <a:spcAft>
                <a:spcPts val="0"/>
              </a:spcAft>
              <a:buClr>
                <a:schemeClr val="lt1"/>
              </a:buClr>
              <a:buSzPts val="1500"/>
              <a:buFont typeface="PT Sans"/>
              <a:buChar char="●"/>
            </a:pPr>
            <a:r>
              <a:rPr lang="en" sz="1500">
                <a:solidFill>
                  <a:schemeClr val="lt1"/>
                </a:solidFill>
                <a:latin typeface="PT Sans"/>
                <a:ea typeface="PT Sans"/>
                <a:cs typeface="PT Sans"/>
                <a:sym typeface="PT Sans"/>
              </a:rPr>
              <a:t>Rain Hoses: KES 75,000 – 110,000 per acre</a:t>
            </a:r>
            <a:endParaRPr sz="1500">
              <a:solidFill>
                <a:schemeClr val="lt1"/>
              </a:solidFill>
              <a:latin typeface="PT Sans"/>
              <a:ea typeface="PT Sans"/>
              <a:cs typeface="PT Sans"/>
              <a:sym typeface="PT Sans"/>
            </a:endParaRPr>
          </a:p>
          <a:p>
            <a:pPr indent="0" lvl="0" marL="457200" rtl="0" algn="l">
              <a:spcBef>
                <a:spcPts val="600"/>
              </a:spcBef>
              <a:spcAft>
                <a:spcPts val="0"/>
              </a:spcAft>
              <a:buNone/>
            </a:pPr>
            <a:r>
              <a:t/>
            </a:r>
            <a:endParaRPr sz="1500">
              <a:solidFill>
                <a:schemeClr val="lt1"/>
              </a:solidFill>
              <a:latin typeface="PT Sans"/>
              <a:ea typeface="PT Sans"/>
              <a:cs typeface="PT Sans"/>
              <a:sym typeface="PT Sans"/>
            </a:endParaRPr>
          </a:p>
        </p:txBody>
      </p:sp>
      <p:sp>
        <p:nvSpPr>
          <p:cNvPr id="156" name="Google Shape;156;p32"/>
          <p:cNvSpPr/>
          <p:nvPr/>
        </p:nvSpPr>
        <p:spPr>
          <a:xfrm>
            <a:off x="319609" y="134814"/>
            <a:ext cx="8096700" cy="1139400"/>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t/>
            </a:r>
            <a:endParaRPr sz="900"/>
          </a:p>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Navigating Agricultural Uncertainty</a:t>
            </a:r>
            <a:endParaRPr b="1" sz="2800">
              <a:solidFill>
                <a:schemeClr val="dk1"/>
              </a:solidFill>
              <a:latin typeface="Nunito SemiBold"/>
              <a:ea typeface="Nunito SemiBold"/>
              <a:cs typeface="Nunito SemiBold"/>
              <a:sym typeface="Nunito SemiBold"/>
            </a:endParaRPr>
          </a:p>
        </p:txBody>
      </p:sp>
      <p:pic>
        <p:nvPicPr>
          <p:cNvPr id="157" name="Google Shape;157;p32"/>
          <p:cNvPicPr preferRelativeResize="0"/>
          <p:nvPr/>
        </p:nvPicPr>
        <p:blipFill>
          <a:blip r:embed="rId3">
            <a:alphaModFix/>
          </a:blip>
          <a:stretch>
            <a:fillRect/>
          </a:stretch>
        </p:blipFill>
        <p:spPr>
          <a:xfrm>
            <a:off x="540700" y="988214"/>
            <a:ext cx="3547907" cy="35644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3"/>
          <p:cNvSpPr/>
          <p:nvPr/>
        </p:nvSpPr>
        <p:spPr>
          <a:xfrm>
            <a:off x="235062" y="182059"/>
            <a:ext cx="8162400" cy="389100"/>
          </a:xfrm>
          <a:prstGeom prst="rect">
            <a:avLst/>
          </a:prstGeom>
          <a:noFill/>
          <a:ln>
            <a:noFill/>
          </a:ln>
        </p:spPr>
        <p:txBody>
          <a:bodyPr anchorCtr="0" anchor="t" bIns="0" lIns="0" spcFirstLastPara="1" rIns="0" wrap="square" tIns="0">
            <a:noAutofit/>
          </a:bodyPr>
          <a:lstStyle/>
          <a:p>
            <a:pPr indent="0" lvl="0" marL="0" marR="0" rtl="0" algn="l">
              <a:lnSpc>
                <a:spcPct val="111363"/>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                         </a:t>
            </a:r>
            <a:r>
              <a:rPr b="1" lang="en" sz="2800">
                <a:solidFill>
                  <a:srgbClr val="FFFFFF"/>
                </a:solidFill>
                <a:latin typeface="Nunito SemiBold"/>
                <a:ea typeface="Nunito SemiBold"/>
                <a:cs typeface="Nunito SemiBold"/>
                <a:sym typeface="Nunito SemiBold"/>
              </a:rPr>
              <a:t>Objectives</a:t>
            </a:r>
            <a:endParaRPr b="1" sz="2800">
              <a:solidFill>
                <a:srgbClr val="FF0000"/>
              </a:solidFill>
              <a:latin typeface="Calibri"/>
              <a:ea typeface="Calibri"/>
              <a:cs typeface="Calibri"/>
              <a:sym typeface="Calibri"/>
            </a:endParaRPr>
          </a:p>
        </p:txBody>
      </p:sp>
      <p:pic>
        <p:nvPicPr>
          <p:cNvPr descr="preencoded.png" id="164" name="Google Shape;164;p33"/>
          <p:cNvPicPr preferRelativeResize="0"/>
          <p:nvPr/>
        </p:nvPicPr>
        <p:blipFill rotWithShape="1">
          <a:blip r:embed="rId3">
            <a:alphaModFix/>
          </a:blip>
          <a:srcRect b="0" l="0" r="0" t="0"/>
          <a:stretch/>
        </p:blipFill>
        <p:spPr>
          <a:xfrm>
            <a:off x="513936" y="892799"/>
            <a:ext cx="661616" cy="793924"/>
          </a:xfrm>
          <a:prstGeom prst="rect">
            <a:avLst/>
          </a:prstGeom>
          <a:noFill/>
          <a:ln>
            <a:noFill/>
          </a:ln>
        </p:spPr>
      </p:pic>
      <p:sp>
        <p:nvSpPr>
          <p:cNvPr id="165" name="Google Shape;165;p33"/>
          <p:cNvSpPr/>
          <p:nvPr/>
        </p:nvSpPr>
        <p:spPr>
          <a:xfrm>
            <a:off x="1326200" y="1126413"/>
            <a:ext cx="4463700" cy="326700"/>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None/>
            </a:pPr>
            <a:r>
              <a:rPr b="1" lang="en" sz="1500">
                <a:solidFill>
                  <a:srgbClr val="FFFFFF"/>
                </a:solidFill>
                <a:latin typeface="PT Sans"/>
                <a:ea typeface="PT Sans"/>
                <a:cs typeface="PT Sans"/>
                <a:sym typeface="PT Sans"/>
              </a:rPr>
              <a:t>Enhancing Crop Suitability Mapping in Kenya</a:t>
            </a:r>
            <a:endParaRPr b="1" sz="1500">
              <a:solidFill>
                <a:schemeClr val="dk1"/>
              </a:solidFill>
              <a:latin typeface="PT Sans"/>
              <a:ea typeface="PT Sans"/>
              <a:cs typeface="PT Sans"/>
              <a:sym typeface="PT Sans"/>
            </a:endParaRPr>
          </a:p>
        </p:txBody>
      </p:sp>
      <p:pic>
        <p:nvPicPr>
          <p:cNvPr descr="preencoded.png" id="166" name="Google Shape;166;p33"/>
          <p:cNvPicPr preferRelativeResize="0"/>
          <p:nvPr/>
        </p:nvPicPr>
        <p:blipFill rotWithShape="1">
          <a:blip r:embed="rId4">
            <a:alphaModFix/>
          </a:blip>
          <a:srcRect b="0" l="0" r="0" t="0"/>
          <a:stretch/>
        </p:blipFill>
        <p:spPr>
          <a:xfrm>
            <a:off x="513946" y="2008362"/>
            <a:ext cx="661616" cy="961802"/>
          </a:xfrm>
          <a:prstGeom prst="rect">
            <a:avLst/>
          </a:prstGeom>
          <a:noFill/>
          <a:ln>
            <a:noFill/>
          </a:ln>
        </p:spPr>
      </p:pic>
      <p:sp>
        <p:nvSpPr>
          <p:cNvPr id="167" name="Google Shape;167;p33"/>
          <p:cNvSpPr/>
          <p:nvPr/>
        </p:nvSpPr>
        <p:spPr>
          <a:xfrm>
            <a:off x="1326204" y="2440640"/>
            <a:ext cx="4674600" cy="262200"/>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None/>
            </a:pPr>
            <a:r>
              <a:rPr b="1" lang="en" sz="1500">
                <a:solidFill>
                  <a:srgbClr val="FFFFFF"/>
                </a:solidFill>
                <a:latin typeface="PT Sans"/>
                <a:ea typeface="PT Sans"/>
                <a:cs typeface="PT Sans"/>
                <a:sym typeface="PT Sans"/>
              </a:rPr>
              <a:t>Develop</a:t>
            </a:r>
            <a:r>
              <a:rPr b="1" lang="en" sz="1500">
                <a:solidFill>
                  <a:srgbClr val="FFFFFF"/>
                </a:solidFill>
                <a:latin typeface="PT Sans"/>
                <a:ea typeface="PT Sans"/>
                <a:cs typeface="PT Sans"/>
                <a:sym typeface="PT Sans"/>
              </a:rPr>
              <a:t> </a:t>
            </a:r>
            <a:r>
              <a:rPr b="1" lang="en" sz="1500">
                <a:solidFill>
                  <a:srgbClr val="FFFFFF"/>
                </a:solidFill>
                <a:latin typeface="PT Sans"/>
                <a:ea typeface="PT Sans"/>
                <a:cs typeface="PT Sans"/>
                <a:sym typeface="PT Sans"/>
              </a:rPr>
              <a:t>Predictive Mapping for Kenya’s Agricultural Planning</a:t>
            </a:r>
            <a:endParaRPr b="1" sz="1500">
              <a:solidFill>
                <a:schemeClr val="dk1"/>
              </a:solidFill>
              <a:latin typeface="PT Sans"/>
              <a:ea typeface="PT Sans"/>
              <a:cs typeface="PT Sans"/>
              <a:sym typeface="PT Sans"/>
            </a:endParaRPr>
          </a:p>
        </p:txBody>
      </p:sp>
      <p:pic>
        <p:nvPicPr>
          <p:cNvPr descr="preencoded.png" id="168" name="Google Shape;168;p33"/>
          <p:cNvPicPr preferRelativeResize="0"/>
          <p:nvPr/>
        </p:nvPicPr>
        <p:blipFill rotWithShape="1">
          <a:blip r:embed="rId5">
            <a:alphaModFix/>
          </a:blip>
          <a:srcRect b="0" l="0" r="0" t="0"/>
          <a:stretch/>
        </p:blipFill>
        <p:spPr>
          <a:xfrm>
            <a:off x="513946" y="3066902"/>
            <a:ext cx="661616" cy="961802"/>
          </a:xfrm>
          <a:prstGeom prst="rect">
            <a:avLst/>
          </a:prstGeom>
          <a:noFill/>
          <a:ln>
            <a:noFill/>
          </a:ln>
        </p:spPr>
      </p:pic>
      <p:sp>
        <p:nvSpPr>
          <p:cNvPr id="169" name="Google Shape;169;p33"/>
          <p:cNvSpPr/>
          <p:nvPr/>
        </p:nvSpPr>
        <p:spPr>
          <a:xfrm>
            <a:off x="1382600" y="3416700"/>
            <a:ext cx="4154400" cy="262200"/>
          </a:xfrm>
          <a:prstGeom prst="rect">
            <a:avLst/>
          </a:prstGeom>
          <a:noFill/>
          <a:ln>
            <a:noFill/>
          </a:ln>
        </p:spPr>
        <p:txBody>
          <a:bodyPr anchorCtr="0" anchor="t" bIns="0" lIns="0" spcFirstLastPara="1" rIns="0" wrap="square" tIns="0">
            <a:noAutofit/>
          </a:bodyPr>
          <a:lstStyle/>
          <a:p>
            <a:pPr indent="0" lvl="0" marL="0" marR="0" rtl="0" algn="l">
              <a:lnSpc>
                <a:spcPct val="102083"/>
              </a:lnSpc>
              <a:spcBef>
                <a:spcPts val="0"/>
              </a:spcBef>
              <a:spcAft>
                <a:spcPts val="0"/>
              </a:spcAft>
              <a:buClr>
                <a:srgbClr val="FFFFFF"/>
              </a:buClr>
              <a:buSzPts val="1500"/>
              <a:buFont typeface="PT Sans"/>
              <a:buNone/>
            </a:pPr>
            <a:r>
              <a:rPr b="1" lang="en" sz="1500">
                <a:solidFill>
                  <a:srgbClr val="FFFFFF"/>
                </a:solidFill>
                <a:latin typeface="PT Sans"/>
                <a:ea typeface="PT Sans"/>
                <a:cs typeface="PT Sans"/>
                <a:sym typeface="PT Sans"/>
              </a:rPr>
              <a:t>Model Development</a:t>
            </a:r>
            <a:endParaRPr b="1" sz="1500">
              <a:solidFill>
                <a:schemeClr val="dk1"/>
              </a:solidFill>
              <a:latin typeface="PT Sans"/>
              <a:ea typeface="PT Sans"/>
              <a:cs typeface="PT Sans"/>
              <a:sym typeface="PT Sans"/>
            </a:endParaRPr>
          </a:p>
        </p:txBody>
      </p:sp>
      <p:sp>
        <p:nvSpPr>
          <p:cNvPr id="170" name="Google Shape;170;p33"/>
          <p:cNvSpPr/>
          <p:nvPr/>
        </p:nvSpPr>
        <p:spPr>
          <a:xfrm>
            <a:off x="8060121" y="4867604"/>
            <a:ext cx="1005052" cy="197069"/>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171" name="Google Shape;171;p33"/>
          <p:cNvSpPr/>
          <p:nvPr/>
        </p:nvSpPr>
        <p:spPr>
          <a:xfrm>
            <a:off x="8060121" y="4867604"/>
            <a:ext cx="1005052" cy="197069"/>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p:nvPr/>
        </p:nvSpPr>
        <p:spPr>
          <a:xfrm>
            <a:off x="523578" y="443359"/>
            <a:ext cx="7577700" cy="417900"/>
          </a:xfrm>
          <a:prstGeom prst="rect">
            <a:avLst/>
          </a:prstGeom>
          <a:noFill/>
          <a:ln>
            <a:noFill/>
          </a:ln>
        </p:spPr>
        <p:txBody>
          <a:bodyPr anchorCtr="0" anchor="t" bIns="0" lIns="0" spcFirstLastPara="1" rIns="0" wrap="square" tIns="0">
            <a:noAutofit/>
          </a:bodyPr>
          <a:lstStyle/>
          <a:p>
            <a:pPr indent="0" lvl="0" marL="0" marR="0" rtl="0" algn="l">
              <a:lnSpc>
                <a:spcPct val="1193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Stakeholders: </a:t>
            </a:r>
            <a:endParaRPr b="1" sz="2800">
              <a:solidFill>
                <a:schemeClr val="dk1"/>
              </a:solidFill>
              <a:latin typeface="Calibri"/>
              <a:ea typeface="Calibri"/>
              <a:cs typeface="Calibri"/>
              <a:sym typeface="Calibri"/>
            </a:endParaRPr>
          </a:p>
        </p:txBody>
      </p:sp>
      <p:sp>
        <p:nvSpPr>
          <p:cNvPr id="178" name="Google Shape;178;p34"/>
          <p:cNvSpPr/>
          <p:nvPr/>
        </p:nvSpPr>
        <p:spPr>
          <a:xfrm>
            <a:off x="323325" y="1556100"/>
            <a:ext cx="3464100" cy="3097200"/>
          </a:xfrm>
          <a:prstGeom prst="rect">
            <a:avLst/>
          </a:prstGeom>
          <a:noFill/>
          <a:ln>
            <a:noFill/>
          </a:ln>
        </p:spPr>
        <p:txBody>
          <a:bodyPr anchorCtr="0" anchor="t" bIns="0" lIns="0" spcFirstLastPara="1" rIns="0" wrap="square" tIns="0">
            <a:noAutofit/>
          </a:bodyPr>
          <a:lstStyle/>
          <a:p>
            <a:pPr indent="-330200" lvl="0" marL="457200" marR="0" rtl="0" algn="l">
              <a:lnSpc>
                <a:spcPct val="123809"/>
              </a:lnSpc>
              <a:spcBef>
                <a:spcPts val="0"/>
              </a:spcBef>
              <a:spcAft>
                <a:spcPts val="0"/>
              </a:spcAft>
              <a:buClr>
                <a:srgbClr val="FFFFFF"/>
              </a:buClr>
              <a:buSzPts val="1600"/>
              <a:buFont typeface="Nunito SemiBold"/>
              <a:buChar char="●"/>
            </a:pPr>
            <a:r>
              <a:rPr b="1" lang="en" sz="1600">
                <a:solidFill>
                  <a:srgbClr val="FFFFFF"/>
                </a:solidFill>
                <a:latin typeface="Nunito SemiBold"/>
                <a:ea typeface="Nunito SemiBold"/>
                <a:cs typeface="Nunito SemiBold"/>
                <a:sym typeface="Nunito SemiBold"/>
              </a:rPr>
              <a:t>Farmers</a:t>
            </a:r>
            <a:endParaRPr b="1" sz="1600">
              <a:solidFill>
                <a:srgbClr val="FFFFFF"/>
              </a:solidFill>
              <a:latin typeface="Nunito SemiBold"/>
              <a:ea typeface="Nunito SemiBold"/>
              <a:cs typeface="Nunito SemiBold"/>
              <a:sym typeface="Nunito SemiBold"/>
            </a:endParaRPr>
          </a:p>
          <a:p>
            <a:pPr indent="-330200" lvl="0" marL="457200" marR="0" rtl="0" algn="l">
              <a:lnSpc>
                <a:spcPct val="123809"/>
              </a:lnSpc>
              <a:spcBef>
                <a:spcPts val="0"/>
              </a:spcBef>
              <a:spcAft>
                <a:spcPts val="0"/>
              </a:spcAft>
              <a:buClr>
                <a:srgbClr val="FFFFFF"/>
              </a:buClr>
              <a:buSzPts val="1600"/>
              <a:buFont typeface="Nunito SemiBold"/>
              <a:buChar char="●"/>
            </a:pPr>
            <a:r>
              <a:rPr b="1" lang="en" sz="1600">
                <a:solidFill>
                  <a:srgbClr val="FFFFFF"/>
                </a:solidFill>
                <a:latin typeface="Nunito SemiBold"/>
                <a:ea typeface="Nunito SemiBold"/>
                <a:cs typeface="Nunito SemiBold"/>
                <a:sym typeface="Nunito SemiBold"/>
              </a:rPr>
              <a:t>Extension officers</a:t>
            </a:r>
            <a:endParaRPr b="1" sz="1600">
              <a:solidFill>
                <a:srgbClr val="FFFFFF"/>
              </a:solidFill>
              <a:latin typeface="Nunito SemiBold"/>
              <a:ea typeface="Nunito SemiBold"/>
              <a:cs typeface="Nunito SemiBold"/>
              <a:sym typeface="Nunito SemiBold"/>
            </a:endParaRPr>
          </a:p>
          <a:p>
            <a:pPr indent="-330200" lvl="0" marL="457200" marR="0" rtl="0" algn="l">
              <a:lnSpc>
                <a:spcPct val="123809"/>
              </a:lnSpc>
              <a:spcBef>
                <a:spcPts val="0"/>
              </a:spcBef>
              <a:spcAft>
                <a:spcPts val="0"/>
              </a:spcAft>
              <a:buClr>
                <a:srgbClr val="FFFFFF"/>
              </a:buClr>
              <a:buSzPts val="1600"/>
              <a:buFont typeface="Nunito SemiBold"/>
              <a:buChar char="●"/>
            </a:pPr>
            <a:r>
              <a:rPr b="1" lang="en" sz="1600">
                <a:solidFill>
                  <a:srgbClr val="FFFFFF"/>
                </a:solidFill>
                <a:latin typeface="Nunito SemiBold"/>
                <a:ea typeface="Nunito SemiBold"/>
                <a:cs typeface="Nunito SemiBold"/>
                <a:sym typeface="Nunito SemiBold"/>
              </a:rPr>
              <a:t>Ministry of Agriculture</a:t>
            </a:r>
            <a:endParaRPr b="1" sz="1600">
              <a:solidFill>
                <a:srgbClr val="FFFFFF"/>
              </a:solidFill>
              <a:latin typeface="Nunito SemiBold"/>
              <a:ea typeface="Nunito SemiBold"/>
              <a:cs typeface="Nunito SemiBold"/>
              <a:sym typeface="Nunito SemiBold"/>
            </a:endParaRPr>
          </a:p>
          <a:p>
            <a:pPr indent="-330200" lvl="0" marL="457200" marR="0" rtl="0" algn="l">
              <a:lnSpc>
                <a:spcPct val="123809"/>
              </a:lnSpc>
              <a:spcBef>
                <a:spcPts val="0"/>
              </a:spcBef>
              <a:spcAft>
                <a:spcPts val="0"/>
              </a:spcAft>
              <a:buClr>
                <a:srgbClr val="FFFFFF"/>
              </a:buClr>
              <a:buSzPts val="1600"/>
              <a:buFont typeface="Nunito SemiBold"/>
              <a:buChar char="●"/>
            </a:pPr>
            <a:r>
              <a:rPr b="1" lang="en" sz="1600">
                <a:solidFill>
                  <a:srgbClr val="FFFFFF"/>
                </a:solidFill>
                <a:latin typeface="Nunito SemiBold"/>
                <a:ea typeface="Nunito SemiBold"/>
                <a:cs typeface="Nunito SemiBold"/>
                <a:sym typeface="Nunito SemiBold"/>
              </a:rPr>
              <a:t>AgriTech Developers</a:t>
            </a:r>
            <a:endParaRPr b="1" sz="1600">
              <a:solidFill>
                <a:srgbClr val="FFFFFF"/>
              </a:solidFill>
              <a:latin typeface="Nunito SemiBold"/>
              <a:ea typeface="Nunito SemiBold"/>
              <a:cs typeface="Nunito SemiBold"/>
              <a:sym typeface="Nunito SemiBold"/>
            </a:endParaRPr>
          </a:p>
          <a:p>
            <a:pPr indent="-330200" lvl="0" marL="457200" marR="0" rtl="0" algn="l">
              <a:lnSpc>
                <a:spcPct val="123809"/>
              </a:lnSpc>
              <a:spcBef>
                <a:spcPts val="0"/>
              </a:spcBef>
              <a:spcAft>
                <a:spcPts val="0"/>
              </a:spcAft>
              <a:buClr>
                <a:srgbClr val="FFFFFF"/>
              </a:buClr>
              <a:buSzPts val="1600"/>
              <a:buFont typeface="Nunito SemiBold"/>
              <a:buChar char="●"/>
            </a:pPr>
            <a:r>
              <a:rPr b="1" lang="en" sz="1600">
                <a:solidFill>
                  <a:srgbClr val="FFFFFF"/>
                </a:solidFill>
                <a:latin typeface="Nunito SemiBold"/>
                <a:ea typeface="Nunito SemiBold"/>
                <a:cs typeface="Nunito SemiBold"/>
                <a:sym typeface="Nunito SemiBold"/>
              </a:rPr>
              <a:t>NGOs &amp; Donors</a:t>
            </a:r>
            <a:endParaRPr b="1" sz="1600">
              <a:solidFill>
                <a:srgbClr val="FFFFFF"/>
              </a:solidFill>
              <a:latin typeface="Nunito SemiBold"/>
              <a:ea typeface="Nunito SemiBold"/>
              <a:cs typeface="Nunito SemiBold"/>
              <a:sym typeface="Nunito SemiBold"/>
            </a:endParaRPr>
          </a:p>
        </p:txBody>
      </p:sp>
      <p:pic>
        <p:nvPicPr>
          <p:cNvPr descr="preencoded.png" id="179" name="Google Shape;179;p34"/>
          <p:cNvPicPr preferRelativeResize="0"/>
          <p:nvPr/>
        </p:nvPicPr>
        <p:blipFill rotWithShape="1">
          <a:blip r:embed="rId3">
            <a:alphaModFix/>
          </a:blip>
          <a:srcRect b="0" l="0" r="0" t="0"/>
          <a:stretch/>
        </p:blipFill>
        <p:spPr>
          <a:xfrm>
            <a:off x="4486721" y="1252166"/>
            <a:ext cx="170557" cy="213196"/>
          </a:xfrm>
          <a:prstGeom prst="rect">
            <a:avLst/>
          </a:prstGeom>
          <a:noFill/>
          <a:ln>
            <a:noFill/>
          </a:ln>
        </p:spPr>
      </p:pic>
      <p:sp>
        <p:nvSpPr>
          <p:cNvPr id="180" name="Google Shape;180;p34"/>
          <p:cNvSpPr/>
          <p:nvPr/>
        </p:nvSpPr>
        <p:spPr>
          <a:xfrm>
            <a:off x="8030561" y="4867603"/>
            <a:ext cx="1044600" cy="211200"/>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181" name="Google Shape;181;p34"/>
          <p:cNvSpPr/>
          <p:nvPr/>
        </p:nvSpPr>
        <p:spPr>
          <a:xfrm>
            <a:off x="8030561" y="4867603"/>
            <a:ext cx="1044600" cy="228300"/>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pic>
        <p:nvPicPr>
          <p:cNvPr id="182" name="Google Shape;182;p34"/>
          <p:cNvPicPr preferRelativeResize="0"/>
          <p:nvPr/>
        </p:nvPicPr>
        <p:blipFill>
          <a:blip r:embed="rId4">
            <a:alphaModFix/>
          </a:blip>
          <a:stretch>
            <a:fillRect/>
          </a:stretch>
        </p:blipFill>
        <p:spPr>
          <a:xfrm>
            <a:off x="4109025" y="861262"/>
            <a:ext cx="4701914" cy="30974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p:nvPr/>
        </p:nvSpPr>
        <p:spPr>
          <a:xfrm>
            <a:off x="335025" y="78825"/>
            <a:ext cx="8808900" cy="519300"/>
          </a:xfrm>
          <a:prstGeom prst="rect">
            <a:avLst/>
          </a:prstGeom>
          <a:noFill/>
          <a:ln>
            <a:noFill/>
          </a:ln>
        </p:spPr>
        <p:txBody>
          <a:bodyPr anchorCtr="0" anchor="t" bIns="0" lIns="0" spcFirstLastPara="1" rIns="0" wrap="square" tIns="0">
            <a:noAutofit/>
          </a:bodyPr>
          <a:lstStyle/>
          <a:p>
            <a:pPr indent="0" lvl="0" marL="0" marR="0" rtl="0" algn="l">
              <a:lnSpc>
                <a:spcPct val="113636"/>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Modeling Approach: </a:t>
            </a:r>
            <a:endParaRPr b="1" sz="2800">
              <a:solidFill>
                <a:schemeClr val="dk1"/>
              </a:solidFill>
              <a:latin typeface="Nunito SemiBold"/>
              <a:ea typeface="Nunito SemiBold"/>
              <a:cs typeface="Nunito SemiBold"/>
              <a:sym typeface="Nunito SemiBold"/>
            </a:endParaRPr>
          </a:p>
        </p:txBody>
      </p:sp>
      <p:sp>
        <p:nvSpPr>
          <p:cNvPr id="189" name="Google Shape;189;p35"/>
          <p:cNvSpPr/>
          <p:nvPr/>
        </p:nvSpPr>
        <p:spPr>
          <a:xfrm>
            <a:off x="5076152" y="1093825"/>
            <a:ext cx="4245000" cy="764100"/>
          </a:xfrm>
          <a:prstGeom prst="rect">
            <a:avLst/>
          </a:prstGeom>
          <a:noFill/>
          <a:ln>
            <a:noFill/>
          </a:ln>
        </p:spPr>
        <p:txBody>
          <a:bodyPr anchorCtr="0" anchor="t" bIns="0" lIns="0" spcFirstLastPara="1" rIns="0" wrap="square" tIns="0">
            <a:noAutofit/>
          </a:bodyPr>
          <a:lstStyle/>
          <a:p>
            <a:pPr indent="-164453" lvl="0" marL="232975" marR="0" rtl="0" algn="l">
              <a:lnSpc>
                <a:spcPct val="158823"/>
              </a:lnSpc>
              <a:spcBef>
                <a:spcPts val="0"/>
              </a:spcBef>
              <a:spcAft>
                <a:spcPts val="0"/>
              </a:spcAft>
              <a:buClr>
                <a:schemeClr val="dk1"/>
              </a:buClr>
              <a:buSzPts val="1187"/>
              <a:buFont typeface="Calibri"/>
              <a:buNone/>
            </a:pPr>
            <a:r>
              <a:t/>
            </a:r>
            <a:endParaRPr sz="1187">
              <a:solidFill>
                <a:schemeClr val="dk1"/>
              </a:solidFill>
              <a:latin typeface="Calibri"/>
              <a:ea typeface="Calibri"/>
              <a:cs typeface="Calibri"/>
              <a:sym typeface="Calibri"/>
            </a:endParaRPr>
          </a:p>
        </p:txBody>
      </p:sp>
      <p:sp>
        <p:nvSpPr>
          <p:cNvPr id="190" name="Google Shape;190;p35"/>
          <p:cNvSpPr/>
          <p:nvPr/>
        </p:nvSpPr>
        <p:spPr>
          <a:xfrm>
            <a:off x="5616466" y="3567857"/>
            <a:ext cx="3269348" cy="1102574"/>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p:txBody>
      </p:sp>
      <p:pic>
        <p:nvPicPr>
          <p:cNvPr id="191" name="Google Shape;191;p35"/>
          <p:cNvPicPr preferRelativeResize="0"/>
          <p:nvPr/>
        </p:nvPicPr>
        <p:blipFill rotWithShape="1">
          <a:blip r:embed="rId3">
            <a:alphaModFix/>
          </a:blip>
          <a:srcRect b="0" l="0" r="0" t="0"/>
          <a:stretch/>
        </p:blipFill>
        <p:spPr>
          <a:xfrm>
            <a:off x="553672" y="1851157"/>
            <a:ext cx="1780985" cy="1298548"/>
          </a:xfrm>
          <a:prstGeom prst="rect">
            <a:avLst/>
          </a:prstGeom>
          <a:noFill/>
          <a:ln>
            <a:noFill/>
          </a:ln>
        </p:spPr>
      </p:pic>
      <p:pic>
        <p:nvPicPr>
          <p:cNvPr descr="preencoded.png" id="192" name="Google Shape;192;p35"/>
          <p:cNvPicPr preferRelativeResize="0"/>
          <p:nvPr/>
        </p:nvPicPr>
        <p:blipFill rotWithShape="1">
          <a:blip r:embed="rId4">
            <a:alphaModFix/>
          </a:blip>
          <a:srcRect b="0" l="0" r="0" t="0"/>
          <a:stretch/>
        </p:blipFill>
        <p:spPr>
          <a:xfrm>
            <a:off x="3073454" y="1737799"/>
            <a:ext cx="2079272" cy="1427277"/>
          </a:xfrm>
          <a:prstGeom prst="rect">
            <a:avLst/>
          </a:prstGeom>
          <a:noFill/>
          <a:ln>
            <a:noFill/>
          </a:ln>
        </p:spPr>
      </p:pic>
      <p:pic>
        <p:nvPicPr>
          <p:cNvPr descr="preencoded.png" id="193" name="Google Shape;193;p35"/>
          <p:cNvPicPr preferRelativeResize="0"/>
          <p:nvPr/>
        </p:nvPicPr>
        <p:blipFill rotWithShape="1">
          <a:blip r:embed="rId5">
            <a:alphaModFix/>
          </a:blip>
          <a:srcRect b="0" l="0" r="0" t="0"/>
          <a:stretch/>
        </p:blipFill>
        <p:spPr>
          <a:xfrm>
            <a:off x="6232462" y="1778844"/>
            <a:ext cx="2182296" cy="1298548"/>
          </a:xfrm>
          <a:prstGeom prst="rect">
            <a:avLst/>
          </a:prstGeom>
          <a:noFill/>
          <a:ln>
            <a:noFill/>
          </a:ln>
        </p:spPr>
      </p:pic>
      <p:sp>
        <p:nvSpPr>
          <p:cNvPr id="194" name="Google Shape;194;p35"/>
          <p:cNvSpPr txBox="1"/>
          <p:nvPr/>
        </p:nvSpPr>
        <p:spPr>
          <a:xfrm>
            <a:off x="353090" y="598123"/>
            <a:ext cx="8437800" cy="288600"/>
          </a:xfrm>
          <a:prstGeom prst="rect">
            <a:avLst/>
          </a:prstGeom>
          <a:noFill/>
          <a:ln>
            <a:noFill/>
          </a:ln>
        </p:spPr>
        <p:txBody>
          <a:bodyPr anchorCtr="0" anchor="t" bIns="28575" lIns="57150" spcFirstLastPara="1" rIns="57150" wrap="square" tIns="28575">
            <a:sp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95" name="Google Shape;195;p35"/>
          <p:cNvSpPr txBox="1"/>
          <p:nvPr/>
        </p:nvSpPr>
        <p:spPr>
          <a:xfrm>
            <a:off x="512375" y="1348997"/>
            <a:ext cx="1781100" cy="311400"/>
          </a:xfrm>
          <a:prstGeom prst="rect">
            <a:avLst/>
          </a:prstGeom>
          <a:noFill/>
          <a:ln>
            <a:noFill/>
          </a:ln>
        </p:spPr>
        <p:txBody>
          <a:bodyPr anchorCtr="0" anchor="t" bIns="30825" lIns="61675" spcFirstLastPara="1" rIns="61675" wrap="square" tIns="30825">
            <a:spAutoFit/>
          </a:bodyPr>
          <a:lstStyle/>
          <a:p>
            <a:pPr indent="0" lvl="0" marL="0" marR="0" rtl="0" algn="l">
              <a:spcBef>
                <a:spcPts val="0"/>
              </a:spcBef>
              <a:spcAft>
                <a:spcPts val="0"/>
              </a:spcAft>
              <a:buNone/>
            </a:pPr>
            <a:r>
              <a:rPr lang="en" sz="1618">
                <a:solidFill>
                  <a:schemeClr val="lt1"/>
                </a:solidFill>
                <a:latin typeface="PT Sans"/>
                <a:ea typeface="PT Sans"/>
                <a:cs typeface="PT Sans"/>
                <a:sym typeface="PT Sans"/>
              </a:rPr>
              <a:t>Random Forest</a:t>
            </a:r>
            <a:endParaRPr sz="1618">
              <a:solidFill>
                <a:schemeClr val="lt1"/>
              </a:solidFill>
              <a:latin typeface="PT Sans"/>
              <a:ea typeface="PT Sans"/>
              <a:cs typeface="PT Sans"/>
              <a:sym typeface="PT Sans"/>
            </a:endParaRPr>
          </a:p>
        </p:txBody>
      </p:sp>
      <p:sp>
        <p:nvSpPr>
          <p:cNvPr id="196" name="Google Shape;196;p35"/>
          <p:cNvSpPr txBox="1"/>
          <p:nvPr/>
        </p:nvSpPr>
        <p:spPr>
          <a:xfrm>
            <a:off x="3665484" y="1383811"/>
            <a:ext cx="1371900" cy="311400"/>
          </a:xfrm>
          <a:prstGeom prst="rect">
            <a:avLst/>
          </a:prstGeom>
          <a:noFill/>
          <a:ln>
            <a:noFill/>
          </a:ln>
        </p:spPr>
        <p:txBody>
          <a:bodyPr anchorCtr="0" anchor="t" bIns="30825" lIns="61675" spcFirstLastPara="1" rIns="61675" wrap="square" tIns="30825">
            <a:spAutoFit/>
          </a:bodyPr>
          <a:lstStyle/>
          <a:p>
            <a:pPr indent="0" lvl="0" marL="0" marR="0" rtl="0" algn="l">
              <a:spcBef>
                <a:spcPts val="0"/>
              </a:spcBef>
              <a:spcAft>
                <a:spcPts val="0"/>
              </a:spcAft>
              <a:buNone/>
            </a:pPr>
            <a:r>
              <a:rPr lang="en" sz="1618">
                <a:solidFill>
                  <a:schemeClr val="lt1"/>
                </a:solidFill>
                <a:latin typeface="PT Sans"/>
                <a:ea typeface="PT Sans"/>
                <a:cs typeface="PT Sans"/>
                <a:sym typeface="PT Sans"/>
              </a:rPr>
              <a:t>XGBoost</a:t>
            </a:r>
            <a:endParaRPr sz="1618">
              <a:solidFill>
                <a:schemeClr val="lt1"/>
              </a:solidFill>
              <a:latin typeface="PT Sans"/>
              <a:ea typeface="PT Sans"/>
              <a:cs typeface="PT Sans"/>
              <a:sym typeface="PT Sans"/>
            </a:endParaRPr>
          </a:p>
        </p:txBody>
      </p:sp>
      <p:sp>
        <p:nvSpPr>
          <p:cNvPr id="197" name="Google Shape;197;p35"/>
          <p:cNvSpPr/>
          <p:nvPr/>
        </p:nvSpPr>
        <p:spPr>
          <a:xfrm>
            <a:off x="8001000" y="4877457"/>
            <a:ext cx="1064173" cy="197069"/>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198" name="Google Shape;198;p35"/>
          <p:cNvSpPr txBox="1"/>
          <p:nvPr/>
        </p:nvSpPr>
        <p:spPr>
          <a:xfrm>
            <a:off x="6130058" y="1395537"/>
            <a:ext cx="3084900" cy="311400"/>
          </a:xfrm>
          <a:prstGeom prst="rect">
            <a:avLst/>
          </a:prstGeom>
          <a:noFill/>
          <a:ln>
            <a:noFill/>
          </a:ln>
        </p:spPr>
        <p:txBody>
          <a:bodyPr anchorCtr="0" anchor="t" bIns="30825" lIns="61675" spcFirstLastPara="1" rIns="61675" wrap="square" tIns="30825">
            <a:spAutoFit/>
          </a:bodyPr>
          <a:lstStyle/>
          <a:p>
            <a:pPr indent="0" lvl="0" marL="0" marR="0" rtl="0" algn="l">
              <a:spcBef>
                <a:spcPts val="0"/>
              </a:spcBef>
              <a:spcAft>
                <a:spcPts val="0"/>
              </a:spcAft>
              <a:buNone/>
            </a:pPr>
            <a:r>
              <a:rPr lang="en" sz="1618">
                <a:solidFill>
                  <a:srgbClr val="FFFFFF"/>
                </a:solidFill>
                <a:latin typeface="PT Sans"/>
                <a:ea typeface="PT Sans"/>
                <a:cs typeface="PT Sans"/>
                <a:sym typeface="PT Sans"/>
              </a:rPr>
              <a:t>Convolutional Neural Network </a:t>
            </a:r>
            <a:endParaRPr sz="1618">
              <a:solidFill>
                <a:schemeClr val="dk1"/>
              </a:solidFill>
              <a:latin typeface="PT Sans"/>
              <a:ea typeface="PT Sans"/>
              <a:cs typeface="PT Sans"/>
              <a:sym typeface="P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36"/>
          <p:cNvPicPr preferRelativeResize="0"/>
          <p:nvPr/>
        </p:nvPicPr>
        <p:blipFill>
          <a:blip r:embed="rId3">
            <a:alphaModFix/>
          </a:blip>
          <a:stretch>
            <a:fillRect/>
          </a:stretch>
        </p:blipFill>
        <p:spPr>
          <a:xfrm>
            <a:off x="1059238" y="755750"/>
            <a:ext cx="7025524" cy="4173575"/>
          </a:xfrm>
          <a:prstGeom prst="rect">
            <a:avLst/>
          </a:prstGeom>
          <a:noFill/>
          <a:ln>
            <a:noFill/>
          </a:ln>
        </p:spPr>
      </p:pic>
      <p:sp>
        <p:nvSpPr>
          <p:cNvPr id="204" name="Google Shape;204;p36"/>
          <p:cNvSpPr txBox="1"/>
          <p:nvPr/>
        </p:nvSpPr>
        <p:spPr>
          <a:xfrm>
            <a:off x="82200" y="32625"/>
            <a:ext cx="4095900" cy="6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FFFFFF"/>
                </a:solidFill>
                <a:latin typeface="Nunito SemiBold"/>
                <a:ea typeface="Nunito SemiBold"/>
                <a:cs typeface="Nunito SemiBold"/>
                <a:sym typeface="Nunito SemiBold"/>
              </a:rPr>
              <a:t> Feature Importance: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p:nvPr/>
        </p:nvSpPr>
        <p:spPr>
          <a:xfrm>
            <a:off x="526375" y="165425"/>
            <a:ext cx="8407200" cy="558000"/>
          </a:xfrm>
          <a:prstGeom prst="rect">
            <a:avLst/>
          </a:prstGeom>
          <a:noFill/>
          <a:ln>
            <a:noFill/>
          </a:ln>
        </p:spPr>
        <p:txBody>
          <a:bodyPr anchorCtr="0" anchor="t" bIns="0" lIns="0" spcFirstLastPara="1" rIns="0" wrap="square" tIns="0">
            <a:noAutofit/>
          </a:bodyPr>
          <a:lstStyle/>
          <a:p>
            <a:pPr indent="0" lvl="0" marL="0" marR="0" rtl="0" algn="l">
              <a:lnSpc>
                <a:spcPct val="818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Model Comparison Results: XG Boost Leads</a:t>
            </a:r>
            <a:endParaRPr b="1" sz="2800">
              <a:solidFill>
                <a:schemeClr val="dk1"/>
              </a:solidFill>
              <a:latin typeface="Calibri"/>
              <a:ea typeface="Calibri"/>
              <a:cs typeface="Calibri"/>
              <a:sym typeface="Calibri"/>
            </a:endParaRPr>
          </a:p>
        </p:txBody>
      </p:sp>
      <p:sp>
        <p:nvSpPr>
          <p:cNvPr id="211" name="Google Shape;211;p37"/>
          <p:cNvSpPr/>
          <p:nvPr/>
        </p:nvSpPr>
        <p:spPr>
          <a:xfrm>
            <a:off x="8020707" y="4857750"/>
            <a:ext cx="1054319" cy="216776"/>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pic>
        <p:nvPicPr>
          <p:cNvPr id="212" name="Google Shape;212;p37"/>
          <p:cNvPicPr preferRelativeResize="0"/>
          <p:nvPr/>
        </p:nvPicPr>
        <p:blipFill rotWithShape="1">
          <a:blip r:embed="rId3">
            <a:alphaModFix/>
          </a:blip>
          <a:srcRect b="0" l="0" r="0" t="0"/>
          <a:stretch/>
        </p:blipFill>
        <p:spPr>
          <a:xfrm>
            <a:off x="526375" y="1390413"/>
            <a:ext cx="3902525" cy="2362675"/>
          </a:xfrm>
          <a:prstGeom prst="rect">
            <a:avLst/>
          </a:prstGeom>
          <a:noFill/>
          <a:ln>
            <a:noFill/>
          </a:ln>
        </p:spPr>
      </p:pic>
      <p:sp>
        <p:nvSpPr>
          <p:cNvPr id="213" name="Google Shape;213;p37"/>
          <p:cNvSpPr/>
          <p:nvPr/>
        </p:nvSpPr>
        <p:spPr>
          <a:xfrm>
            <a:off x="5041750" y="1212475"/>
            <a:ext cx="3276300" cy="28920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317500" lvl="0" marL="457200" rtl="0" algn="l">
              <a:lnSpc>
                <a:spcPct val="81250"/>
              </a:lnSpc>
              <a:spcBef>
                <a:spcPts val="0"/>
              </a:spcBef>
              <a:spcAft>
                <a:spcPts val="0"/>
              </a:spcAft>
              <a:buClr>
                <a:schemeClr val="lt1"/>
              </a:buClr>
              <a:buSzPts val="1400"/>
              <a:buFont typeface="PT Sans"/>
              <a:buChar char="●"/>
            </a:pPr>
            <a:r>
              <a:rPr lang="en">
                <a:solidFill>
                  <a:schemeClr val="lt1"/>
                </a:solidFill>
                <a:latin typeface="PT Sans"/>
                <a:ea typeface="PT Sans"/>
                <a:cs typeface="PT Sans"/>
                <a:sym typeface="PT Sans"/>
              </a:rPr>
              <a:t>XGBoost outperformed other models with the  F1 score of 0.89. </a:t>
            </a:r>
            <a:endParaRPr>
              <a:solidFill>
                <a:schemeClr val="lt1"/>
              </a:solidFill>
              <a:latin typeface="PT Sans"/>
              <a:ea typeface="PT Sans"/>
              <a:cs typeface="PT Sans"/>
              <a:sym typeface="PT Sans"/>
            </a:endParaRPr>
          </a:p>
          <a:p>
            <a:pPr indent="-317500" lvl="0" marL="457200" rtl="0" algn="l">
              <a:lnSpc>
                <a:spcPct val="81250"/>
              </a:lnSpc>
              <a:spcBef>
                <a:spcPts val="0"/>
              </a:spcBef>
              <a:spcAft>
                <a:spcPts val="0"/>
              </a:spcAft>
              <a:buClr>
                <a:schemeClr val="lt1"/>
              </a:buClr>
              <a:buSzPts val="1400"/>
              <a:buFont typeface="PT Sans"/>
              <a:buChar char="●"/>
            </a:pPr>
            <a:r>
              <a:rPr lang="en">
                <a:solidFill>
                  <a:schemeClr val="lt1"/>
                </a:solidFill>
                <a:latin typeface="PT Sans"/>
                <a:ea typeface="PT Sans"/>
                <a:cs typeface="PT Sans"/>
                <a:sym typeface="PT Sans"/>
              </a:rPr>
              <a:t>It reliably identifies suitable areas while minimizing errors.</a:t>
            </a:r>
            <a:endParaRPr b="1" sz="1900">
              <a:solidFill>
                <a:schemeClr val="lt1"/>
              </a:solidFill>
              <a:latin typeface="PT Sans"/>
              <a:ea typeface="PT Sans"/>
              <a:cs typeface="PT Sans"/>
              <a:sym typeface="PT Sans"/>
            </a:endParaRPr>
          </a:p>
          <a:p>
            <a:pPr indent="0" lvl="0" marL="0" rtl="0" algn="l">
              <a:spcBef>
                <a:spcPts val="0"/>
              </a:spcBef>
              <a:spcAft>
                <a:spcPts val="0"/>
              </a:spcAft>
              <a:buNone/>
            </a:pPr>
            <a:r>
              <a:t/>
            </a:r>
            <a:endParaRPr sz="1500">
              <a:solidFill>
                <a:schemeClr val="lt1"/>
              </a:solidFill>
              <a:latin typeface="PT Sans"/>
              <a:ea typeface="PT Sans"/>
              <a:cs typeface="PT Sans"/>
              <a:sym typeface="P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8"/>
          <p:cNvSpPr/>
          <p:nvPr/>
        </p:nvSpPr>
        <p:spPr>
          <a:xfrm>
            <a:off x="526375" y="165425"/>
            <a:ext cx="8407200" cy="558000"/>
          </a:xfrm>
          <a:prstGeom prst="rect">
            <a:avLst/>
          </a:prstGeom>
          <a:noFill/>
          <a:ln>
            <a:noFill/>
          </a:ln>
        </p:spPr>
        <p:txBody>
          <a:bodyPr anchorCtr="0" anchor="t" bIns="0" lIns="0" spcFirstLastPara="1" rIns="0" wrap="square" tIns="0">
            <a:noAutofit/>
          </a:bodyPr>
          <a:lstStyle/>
          <a:p>
            <a:pPr indent="0" lvl="0" marL="0" marR="0" rtl="0" algn="l">
              <a:lnSpc>
                <a:spcPct val="818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Model Comparison Results: XG Boost Leads</a:t>
            </a:r>
            <a:endParaRPr b="1" sz="2800">
              <a:solidFill>
                <a:schemeClr val="dk1"/>
              </a:solidFill>
              <a:latin typeface="Calibri"/>
              <a:ea typeface="Calibri"/>
              <a:cs typeface="Calibri"/>
              <a:sym typeface="Calibri"/>
            </a:endParaRPr>
          </a:p>
        </p:txBody>
      </p:sp>
      <p:pic>
        <p:nvPicPr>
          <p:cNvPr descr="preencoded.png" id="220" name="Google Shape;220;p38"/>
          <p:cNvPicPr preferRelativeResize="0"/>
          <p:nvPr/>
        </p:nvPicPr>
        <p:blipFill rotWithShape="1">
          <a:blip r:embed="rId3">
            <a:alphaModFix/>
          </a:blip>
          <a:srcRect b="0" l="0" r="0" t="0"/>
          <a:stretch/>
        </p:blipFill>
        <p:spPr>
          <a:xfrm>
            <a:off x="898999" y="723425"/>
            <a:ext cx="4231824" cy="3168399"/>
          </a:xfrm>
          <a:prstGeom prst="rect">
            <a:avLst/>
          </a:prstGeom>
          <a:noFill/>
          <a:ln>
            <a:noFill/>
          </a:ln>
        </p:spPr>
      </p:pic>
      <p:sp>
        <p:nvSpPr>
          <p:cNvPr id="221" name="Google Shape;221;p38"/>
          <p:cNvSpPr/>
          <p:nvPr/>
        </p:nvSpPr>
        <p:spPr>
          <a:xfrm>
            <a:off x="384350" y="4196975"/>
            <a:ext cx="200700" cy="200700"/>
          </a:xfrm>
          <a:prstGeom prst="roundRect">
            <a:avLst>
              <a:gd fmla="val 11761" name="adj"/>
            </a:avLst>
          </a:prstGeom>
          <a:solidFill>
            <a:srgbClr val="825B08"/>
          </a:solidFill>
          <a:ln>
            <a:noFill/>
          </a:ln>
        </p:spPr>
        <p:txBody>
          <a:bodyPr anchorCtr="0" anchor="ctr" bIns="117950" lIns="117950" spcFirstLastPara="1" rIns="117950" wrap="square" tIns="117950">
            <a:noAutofit/>
          </a:bodyPr>
          <a:lstStyle/>
          <a:p>
            <a:pPr indent="0" lvl="0" marL="0" rtl="0" algn="l">
              <a:spcBef>
                <a:spcPts val="0"/>
              </a:spcBef>
              <a:spcAft>
                <a:spcPts val="0"/>
              </a:spcAft>
              <a:buNone/>
            </a:pPr>
            <a:r>
              <a:t/>
            </a:r>
            <a:endParaRPr/>
          </a:p>
        </p:txBody>
      </p:sp>
      <p:sp>
        <p:nvSpPr>
          <p:cNvPr id="222" name="Google Shape;222;p38"/>
          <p:cNvSpPr/>
          <p:nvPr/>
        </p:nvSpPr>
        <p:spPr>
          <a:xfrm>
            <a:off x="757523" y="4210683"/>
            <a:ext cx="736800" cy="28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51"/>
              <a:buFont typeface="PT Sans"/>
              <a:buNone/>
            </a:pPr>
            <a:r>
              <a:rPr lang="en" sz="1650">
                <a:solidFill>
                  <a:srgbClr val="FFFFFF"/>
                </a:solidFill>
                <a:latin typeface="PT Sans"/>
                <a:ea typeface="PT Sans"/>
                <a:cs typeface="PT Sans"/>
                <a:sym typeface="PT Sans"/>
              </a:rPr>
              <a:t>F1 Score</a:t>
            </a:r>
            <a:endParaRPr sz="1650">
              <a:solidFill>
                <a:schemeClr val="dk1"/>
              </a:solidFill>
              <a:latin typeface="Calibri"/>
              <a:ea typeface="Calibri"/>
              <a:cs typeface="Calibri"/>
              <a:sym typeface="Calibri"/>
            </a:endParaRPr>
          </a:p>
        </p:txBody>
      </p:sp>
      <p:sp>
        <p:nvSpPr>
          <p:cNvPr id="223" name="Google Shape;223;p38"/>
          <p:cNvSpPr/>
          <p:nvPr/>
        </p:nvSpPr>
        <p:spPr>
          <a:xfrm>
            <a:off x="1727627" y="4210683"/>
            <a:ext cx="200700" cy="200700"/>
          </a:xfrm>
          <a:prstGeom prst="roundRect">
            <a:avLst>
              <a:gd fmla="val 11761" name="adj"/>
            </a:avLst>
          </a:prstGeom>
          <a:solidFill>
            <a:srgbClr val="D3950D"/>
          </a:solidFill>
          <a:ln>
            <a:noFill/>
          </a:ln>
        </p:spPr>
        <p:txBody>
          <a:bodyPr anchorCtr="0" anchor="ctr" bIns="117950" lIns="117950" spcFirstLastPara="1" rIns="117950" wrap="square" tIns="117950">
            <a:noAutofit/>
          </a:bodyPr>
          <a:lstStyle/>
          <a:p>
            <a:pPr indent="0" lvl="0" marL="0" rtl="0" algn="l">
              <a:spcBef>
                <a:spcPts val="0"/>
              </a:spcBef>
              <a:spcAft>
                <a:spcPts val="0"/>
              </a:spcAft>
              <a:buNone/>
            </a:pPr>
            <a:r>
              <a:t/>
            </a:r>
            <a:endParaRPr/>
          </a:p>
        </p:txBody>
      </p:sp>
      <p:sp>
        <p:nvSpPr>
          <p:cNvPr id="224" name="Google Shape;224;p38"/>
          <p:cNvSpPr/>
          <p:nvPr/>
        </p:nvSpPr>
        <p:spPr>
          <a:xfrm>
            <a:off x="2147560" y="4242784"/>
            <a:ext cx="6831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51"/>
              <a:buFont typeface="PT Sans"/>
              <a:buNone/>
            </a:pPr>
            <a:r>
              <a:rPr lang="en" sz="1650">
                <a:solidFill>
                  <a:srgbClr val="FFFFFF"/>
                </a:solidFill>
                <a:latin typeface="PT Sans"/>
                <a:ea typeface="PT Sans"/>
                <a:cs typeface="PT Sans"/>
                <a:sym typeface="PT Sans"/>
              </a:rPr>
              <a:t>Recall</a:t>
            </a:r>
            <a:endParaRPr sz="1650">
              <a:solidFill>
                <a:schemeClr val="dk1"/>
              </a:solidFill>
              <a:latin typeface="Calibri"/>
              <a:ea typeface="Calibri"/>
              <a:cs typeface="Calibri"/>
              <a:sym typeface="Calibri"/>
            </a:endParaRPr>
          </a:p>
        </p:txBody>
      </p:sp>
      <p:sp>
        <p:nvSpPr>
          <p:cNvPr id="225" name="Google Shape;225;p38"/>
          <p:cNvSpPr/>
          <p:nvPr/>
        </p:nvSpPr>
        <p:spPr>
          <a:xfrm>
            <a:off x="3289892" y="4254220"/>
            <a:ext cx="200700" cy="200700"/>
          </a:xfrm>
          <a:prstGeom prst="roundRect">
            <a:avLst>
              <a:gd fmla="val 11761" name="adj"/>
            </a:avLst>
          </a:prstGeom>
          <a:solidFill>
            <a:srgbClr val="F3BC44"/>
          </a:solidFill>
          <a:ln>
            <a:noFill/>
          </a:ln>
        </p:spPr>
        <p:txBody>
          <a:bodyPr anchorCtr="0" anchor="ctr" bIns="117950" lIns="117950" spcFirstLastPara="1" rIns="117950" wrap="square" tIns="117950">
            <a:noAutofit/>
          </a:bodyPr>
          <a:lstStyle/>
          <a:p>
            <a:pPr indent="0" lvl="0" marL="0" rtl="0" algn="l">
              <a:spcBef>
                <a:spcPts val="0"/>
              </a:spcBef>
              <a:spcAft>
                <a:spcPts val="0"/>
              </a:spcAft>
              <a:buNone/>
            </a:pPr>
            <a:r>
              <a:t/>
            </a:r>
            <a:endParaRPr/>
          </a:p>
        </p:txBody>
      </p:sp>
      <p:sp>
        <p:nvSpPr>
          <p:cNvPr id="226" name="Google Shape;226;p38"/>
          <p:cNvSpPr/>
          <p:nvPr/>
        </p:nvSpPr>
        <p:spPr>
          <a:xfrm>
            <a:off x="3697748" y="4242774"/>
            <a:ext cx="1010700" cy="21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51"/>
              <a:buFont typeface="PT Sans"/>
              <a:buNone/>
            </a:pPr>
            <a:r>
              <a:rPr lang="en" sz="1650">
                <a:solidFill>
                  <a:srgbClr val="FFFFFF"/>
                </a:solidFill>
                <a:latin typeface="PT Sans"/>
                <a:ea typeface="PT Sans"/>
                <a:cs typeface="PT Sans"/>
                <a:sym typeface="PT Sans"/>
              </a:rPr>
              <a:t>Precision</a:t>
            </a:r>
            <a:endParaRPr sz="1650">
              <a:solidFill>
                <a:schemeClr val="dk1"/>
              </a:solidFill>
              <a:latin typeface="Calibri"/>
              <a:ea typeface="Calibri"/>
              <a:cs typeface="Calibri"/>
              <a:sym typeface="Calibri"/>
            </a:endParaRPr>
          </a:p>
        </p:txBody>
      </p:sp>
      <p:sp>
        <p:nvSpPr>
          <p:cNvPr id="227" name="Google Shape;227;p38"/>
          <p:cNvSpPr/>
          <p:nvPr/>
        </p:nvSpPr>
        <p:spPr>
          <a:xfrm>
            <a:off x="4930128" y="4210683"/>
            <a:ext cx="200700" cy="200700"/>
          </a:xfrm>
          <a:prstGeom prst="roundRect">
            <a:avLst>
              <a:gd fmla="val 11761" name="adj"/>
            </a:avLst>
          </a:prstGeom>
          <a:solidFill>
            <a:srgbClr val="F8D995"/>
          </a:solidFill>
          <a:ln>
            <a:noFill/>
          </a:ln>
        </p:spPr>
        <p:txBody>
          <a:bodyPr anchorCtr="0" anchor="ctr" bIns="117950" lIns="117950" spcFirstLastPara="1" rIns="117950" wrap="square" tIns="117950">
            <a:noAutofit/>
          </a:bodyPr>
          <a:lstStyle/>
          <a:p>
            <a:pPr indent="0" lvl="0" marL="0" rtl="0" algn="l">
              <a:spcBef>
                <a:spcPts val="0"/>
              </a:spcBef>
              <a:spcAft>
                <a:spcPts val="0"/>
              </a:spcAft>
              <a:buNone/>
            </a:pPr>
            <a:r>
              <a:t/>
            </a:r>
            <a:endParaRPr/>
          </a:p>
        </p:txBody>
      </p:sp>
      <p:sp>
        <p:nvSpPr>
          <p:cNvPr id="228" name="Google Shape;228;p38"/>
          <p:cNvSpPr/>
          <p:nvPr/>
        </p:nvSpPr>
        <p:spPr>
          <a:xfrm>
            <a:off x="5458854" y="4233086"/>
            <a:ext cx="1010700" cy="21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51"/>
              <a:buFont typeface="PT Sans"/>
              <a:buNone/>
            </a:pPr>
            <a:r>
              <a:rPr lang="en" sz="1650">
                <a:solidFill>
                  <a:srgbClr val="FFFFFF"/>
                </a:solidFill>
                <a:latin typeface="PT Sans"/>
                <a:ea typeface="PT Sans"/>
                <a:cs typeface="PT Sans"/>
                <a:sym typeface="PT Sans"/>
              </a:rPr>
              <a:t>Accuracy</a:t>
            </a:r>
            <a:endParaRPr sz="1650">
              <a:solidFill>
                <a:schemeClr val="dk1"/>
              </a:solidFill>
              <a:latin typeface="Calibri"/>
              <a:ea typeface="Calibri"/>
              <a:cs typeface="Calibri"/>
              <a:sym typeface="Calibri"/>
            </a:endParaRPr>
          </a:p>
        </p:txBody>
      </p:sp>
      <p:sp>
        <p:nvSpPr>
          <p:cNvPr id="229" name="Google Shape;229;p38"/>
          <p:cNvSpPr/>
          <p:nvPr/>
        </p:nvSpPr>
        <p:spPr>
          <a:xfrm>
            <a:off x="8020707" y="4857750"/>
            <a:ext cx="1054200" cy="216900"/>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230" name="Google Shape;230;p38"/>
          <p:cNvSpPr/>
          <p:nvPr/>
        </p:nvSpPr>
        <p:spPr>
          <a:xfrm>
            <a:off x="5458850" y="1125750"/>
            <a:ext cx="3337500" cy="2892000"/>
          </a:xfrm>
          <a:prstGeom prst="roundRect">
            <a:avLst>
              <a:gd fmla="val 15121" name="adj"/>
            </a:avLst>
          </a:prstGeom>
          <a:solidFill>
            <a:srgbClr val="450707"/>
          </a:solidFill>
          <a:ln>
            <a:noFill/>
          </a:ln>
        </p:spPr>
        <p:txBody>
          <a:bodyPr anchorCtr="0" anchor="ctr" bIns="57150" lIns="57150" spcFirstLastPara="1" rIns="57150" wrap="square" tIns="57150">
            <a:noAutofit/>
          </a:bodyPr>
          <a:lstStyle/>
          <a:p>
            <a:pPr indent="-317500" lvl="0" marL="457200" rtl="0" algn="l">
              <a:spcBef>
                <a:spcPts val="0"/>
              </a:spcBef>
              <a:spcAft>
                <a:spcPts val="0"/>
              </a:spcAft>
              <a:buClr>
                <a:schemeClr val="lt1"/>
              </a:buClr>
              <a:buSzPts val="1400"/>
              <a:buChar char="●"/>
            </a:pPr>
            <a:r>
              <a:rPr lang="en">
                <a:solidFill>
                  <a:schemeClr val="lt1"/>
                </a:solidFill>
              </a:rPr>
              <a:t>XGBoost: Highest accuracy and generalization.</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Best for real-world deployment.</a:t>
            </a:r>
            <a:endParaRPr>
              <a:solidFill>
                <a:schemeClr val="lt1"/>
              </a:solidFill>
            </a:endParaRPr>
          </a:p>
          <a:p>
            <a:pPr indent="0" lvl="0" marL="0" rtl="0" algn="l">
              <a:spcBef>
                <a:spcPts val="0"/>
              </a:spcBef>
              <a:spcAft>
                <a:spcPts val="0"/>
              </a:spcAft>
              <a:buNone/>
            </a:pPr>
            <a:r>
              <a:t/>
            </a:r>
            <a:endParaRPr>
              <a:solidFill>
                <a:schemeClr val="lt1"/>
              </a:solidFill>
              <a:latin typeface="PT Sans"/>
              <a:ea typeface="PT Sans"/>
              <a:cs typeface="PT Sans"/>
              <a:sym typeface="P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nvSpPr>
        <p:spPr>
          <a:xfrm>
            <a:off x="875100" y="1303725"/>
            <a:ext cx="6738900" cy="11544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lt1"/>
              </a:buClr>
              <a:buSzPts val="2100"/>
              <a:buChar char="●"/>
            </a:pPr>
            <a:r>
              <a:rPr lang="en" sz="2100">
                <a:solidFill>
                  <a:schemeClr val="lt1"/>
                </a:solidFill>
              </a:rPr>
              <a:t>Add multi-class classification for multiple crops</a:t>
            </a:r>
            <a:endParaRPr sz="2100">
              <a:solidFill>
                <a:schemeClr val="lt1"/>
              </a:solidFill>
            </a:endParaRPr>
          </a:p>
          <a:p>
            <a:pPr indent="-361950" lvl="0" marL="457200" rtl="0" algn="l">
              <a:spcBef>
                <a:spcPts val="0"/>
              </a:spcBef>
              <a:spcAft>
                <a:spcPts val="0"/>
              </a:spcAft>
              <a:buClr>
                <a:schemeClr val="lt1"/>
              </a:buClr>
              <a:buSzPts val="2100"/>
              <a:buChar char="●"/>
            </a:pPr>
            <a:r>
              <a:rPr lang="en" sz="2100">
                <a:solidFill>
                  <a:schemeClr val="lt1"/>
                </a:solidFill>
              </a:rPr>
              <a:t>Validate with field data and expert input</a:t>
            </a:r>
            <a:endParaRPr sz="2100">
              <a:solidFill>
                <a:schemeClr val="lt1"/>
              </a:solidFill>
            </a:endParaRPr>
          </a:p>
          <a:p>
            <a:pPr indent="-361950" lvl="0" marL="457200" rtl="0" algn="l">
              <a:spcBef>
                <a:spcPts val="0"/>
              </a:spcBef>
              <a:spcAft>
                <a:spcPts val="0"/>
              </a:spcAft>
              <a:buClr>
                <a:schemeClr val="lt1"/>
              </a:buClr>
              <a:buSzPts val="2100"/>
              <a:buChar char="●"/>
            </a:pPr>
            <a:r>
              <a:rPr lang="en" sz="2100">
                <a:solidFill>
                  <a:schemeClr val="lt1"/>
                </a:solidFill>
              </a:rPr>
              <a:t>Improve CNN with more data and augmentation</a:t>
            </a:r>
            <a:endParaRPr sz="2100">
              <a:solidFill>
                <a:schemeClr val="lt1"/>
              </a:solidFill>
            </a:endParaRPr>
          </a:p>
        </p:txBody>
      </p:sp>
      <p:sp>
        <p:nvSpPr>
          <p:cNvPr id="236" name="Google Shape;236;p39"/>
          <p:cNvSpPr/>
          <p:nvPr/>
        </p:nvSpPr>
        <p:spPr>
          <a:xfrm>
            <a:off x="526375" y="165425"/>
            <a:ext cx="8407200" cy="558000"/>
          </a:xfrm>
          <a:prstGeom prst="rect">
            <a:avLst/>
          </a:prstGeom>
          <a:noFill/>
          <a:ln>
            <a:noFill/>
          </a:ln>
        </p:spPr>
        <p:txBody>
          <a:bodyPr anchorCtr="0" anchor="t" bIns="0" lIns="0" spcFirstLastPara="1" rIns="0" wrap="square" tIns="0">
            <a:noAutofit/>
          </a:bodyPr>
          <a:lstStyle/>
          <a:p>
            <a:pPr indent="0" lvl="0" marL="0" marR="0" rtl="0" algn="l">
              <a:lnSpc>
                <a:spcPct val="81818"/>
              </a:lnSpc>
              <a:spcBef>
                <a:spcPts val="0"/>
              </a:spcBef>
              <a:spcAft>
                <a:spcPts val="0"/>
              </a:spcAft>
              <a:buClr>
                <a:srgbClr val="FFFFFF"/>
              </a:buClr>
              <a:buSzPts val="2800"/>
              <a:buFont typeface="Nunito SemiBold"/>
              <a:buNone/>
            </a:pPr>
            <a:r>
              <a:rPr b="1" lang="en" sz="2800">
                <a:solidFill>
                  <a:srgbClr val="FFFFFF"/>
                </a:solidFill>
                <a:latin typeface="Nunito SemiBold"/>
                <a:ea typeface="Nunito SemiBold"/>
                <a:cs typeface="Nunito SemiBold"/>
                <a:sym typeface="Nunito SemiBold"/>
              </a:rPr>
              <a:t>Recommendations</a:t>
            </a:r>
            <a:endParaRPr b="1" sz="2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p:nvPr/>
        </p:nvSpPr>
        <p:spPr>
          <a:xfrm>
            <a:off x="8001000" y="4828190"/>
            <a:ext cx="1054319" cy="246336"/>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28575" lIns="57150" spcFirstLastPara="1" rIns="57150" wrap="square" tIns="2857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pic>
        <p:nvPicPr>
          <p:cNvPr descr="Merci Note Noter - Image gratuite sur Pixabay" id="242" name="Google Shape;242;p40"/>
          <p:cNvPicPr preferRelativeResize="0"/>
          <p:nvPr/>
        </p:nvPicPr>
        <p:blipFill rotWithShape="1">
          <a:blip r:embed="rId3">
            <a:alphaModFix/>
          </a:blip>
          <a:srcRect b="0" l="0" r="0" t="0"/>
          <a:stretch/>
        </p:blipFill>
        <p:spPr>
          <a:xfrm>
            <a:off x="5547404" y="270724"/>
            <a:ext cx="3270939" cy="3392870"/>
          </a:xfrm>
          <a:prstGeom prst="rect">
            <a:avLst/>
          </a:prstGeom>
          <a:noFill/>
          <a:ln>
            <a:noFill/>
          </a:ln>
        </p:spPr>
      </p:pic>
      <p:pic>
        <p:nvPicPr>
          <p:cNvPr descr="The Ultimate Answer Or Die Cheat Sheet: Get Quick Solutions When It ..." id="243" name="Google Shape;243;p40"/>
          <p:cNvPicPr preferRelativeResize="0"/>
          <p:nvPr/>
        </p:nvPicPr>
        <p:blipFill rotWithShape="1">
          <a:blip r:embed="rId4">
            <a:alphaModFix/>
          </a:blip>
          <a:srcRect b="0" l="0" r="0" t="0"/>
          <a:stretch/>
        </p:blipFill>
        <p:spPr>
          <a:xfrm>
            <a:off x="0" y="325164"/>
            <a:ext cx="4857750" cy="4503026"/>
          </a:xfrm>
          <a:prstGeom prst="rect">
            <a:avLst/>
          </a:prstGeom>
          <a:noFill/>
          <a:ln>
            <a:noFill/>
          </a:ln>
        </p:spPr>
      </p:pic>
      <p:sp>
        <p:nvSpPr>
          <p:cNvPr id="244" name="Google Shape;244;p40"/>
          <p:cNvSpPr txBox="1"/>
          <p:nvPr/>
        </p:nvSpPr>
        <p:spPr>
          <a:xfrm>
            <a:off x="3890200" y="3856763"/>
            <a:ext cx="5165100" cy="8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u="sng">
                <a:solidFill>
                  <a:schemeClr val="hlink"/>
                </a:solidFill>
                <a:hlinkClick r:id="rId5"/>
              </a:rPr>
              <a:t>Kenya grapples with worst drought in four decades – The North Africa Post</a:t>
            </a:r>
            <a:endParaRPr sz="1200">
              <a:solidFill>
                <a:schemeClr val="dk1"/>
              </a:solidFill>
              <a:highlight>
                <a:srgbClr val="FFFFFF"/>
              </a:highlight>
            </a:endParaRPr>
          </a:p>
          <a:p>
            <a:pPr indent="0" lvl="0" marL="0" rtl="0" algn="l">
              <a:spcBef>
                <a:spcPts val="0"/>
              </a:spcBef>
              <a:spcAft>
                <a:spcPts val="0"/>
              </a:spcAft>
              <a:buNone/>
            </a:pPr>
            <a:r>
              <a:rPr lang="en" sz="1100" u="sng">
                <a:solidFill>
                  <a:schemeClr val="hlink"/>
                </a:solidFill>
                <a:hlinkClick r:id="rId6"/>
              </a:rPr>
              <a:t>Data is critical tool as farmers fight drought in Kenya - Kenya | ReliefWeb</a:t>
            </a:r>
            <a:endParaRPr>
              <a:solidFill>
                <a:schemeClr val="dk1"/>
              </a:solidFill>
            </a:endParaRPr>
          </a:p>
          <a:p>
            <a:pPr indent="0" lvl="0" marL="0" rtl="0" algn="l">
              <a:spcBef>
                <a:spcPts val="0"/>
              </a:spcBef>
              <a:spcAft>
                <a:spcPts val="0"/>
              </a:spcAft>
              <a:buNone/>
            </a:pPr>
            <a:r>
              <a:rPr lang="en" sz="1100" u="sng">
                <a:solidFill>
                  <a:schemeClr val="hlink"/>
                </a:solidFill>
                <a:hlinkClick r:id="rId7"/>
              </a:rPr>
              <a:t>The Impact of Climate Change on Crop Production in Kenya</a:t>
            </a:r>
            <a:endParaRPr sz="1200">
              <a:solidFill>
                <a:srgbClr val="4C4C4C"/>
              </a:solidFill>
              <a:highlight>
                <a:srgbClr val="FFFFFF"/>
              </a:highlight>
              <a:latin typeface="Georgia"/>
              <a:ea typeface="Georgia"/>
              <a:cs typeface="Georgia"/>
              <a:sym typeface="Georgia"/>
            </a:endParaRPr>
          </a:p>
          <a:p>
            <a:pPr indent="0" lvl="0" marL="0" rtl="0" algn="l">
              <a:spcBef>
                <a:spcPts val="0"/>
              </a:spcBef>
              <a:spcAft>
                <a:spcPts val="0"/>
              </a:spcAft>
              <a:buNone/>
            </a:pPr>
            <a:r>
              <a:rPr lang="en" sz="1100" u="sng">
                <a:solidFill>
                  <a:schemeClr val="hlink"/>
                </a:solidFill>
                <a:hlinkClick r:id="rId8"/>
              </a:rPr>
              <a:t>Irrigation Farming in Kenya | 0790719020 | Aqua Hub Kenya</a:t>
            </a:r>
            <a:endParaRPr sz="1200">
              <a:solidFill>
                <a:srgbClr val="4C4C4C"/>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sz="1200">
              <a:solidFill>
                <a:srgbClr val="4C4C4C"/>
              </a:solidFill>
              <a:highlight>
                <a:srgbClr val="FFFFFF"/>
              </a:highlight>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